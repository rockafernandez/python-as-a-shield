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8eadff45484603" /><Relationship Type="http://schemas.openxmlformats.org/officeDocument/2006/relationships/extended-properties" Target="/docProps/app.xml" Id="Rd7a44d85d4194704" /><Relationship Type="http://schemas.openxmlformats.org/officeDocument/2006/relationships/officeDocument" Target="/ppt/presentation.xml" Id="R241df353ea74477f" /></Relationships>
</file>

<file path=ppt/presentation.xml><?xml version="1.0" encoding="utf-8"?>
<p:presentation xmlns:p="http://schemas.openxmlformats.org/presentationml/2006/main">
  <p:sldMasterIdLst>
    <p:sldMasterId xmlns:r="http://schemas.openxmlformats.org/officeDocument/2006/relationships" id="2147483648" r:id="R9bcf2cb3a7544926"/>
  </p:sldMasterIdLst>
  <p:notesMasterIdLst>
    <p:notesMasterId xmlns:r="http://schemas.openxmlformats.org/officeDocument/2006/relationships" r:id="R87515803782a434b"/>
  </p:notesMasterIdLst>
  <p:sldIdLst>
    <p:sldId xmlns:r="http://schemas.openxmlformats.org/officeDocument/2006/relationships" id="256" r:id="R87cbab8d1c0d4232"/>
    <p:sldId xmlns:r="http://schemas.openxmlformats.org/officeDocument/2006/relationships" id="257" r:id="R37accbb898974213"/>
    <p:sldId xmlns:r="http://schemas.openxmlformats.org/officeDocument/2006/relationships" id="258" r:id="R84890dc2b68f4ffc"/>
    <p:sldId xmlns:r="http://schemas.openxmlformats.org/officeDocument/2006/relationships" id="259" r:id="Rb09eaa327ae14907"/>
    <p:sldId xmlns:r="http://schemas.openxmlformats.org/officeDocument/2006/relationships" id="260" r:id="R74e826dcb6184d64"/>
    <p:sldId xmlns:r="http://schemas.openxmlformats.org/officeDocument/2006/relationships" id="261" r:id="Re80ffe123f6d485e"/>
    <p:sldId xmlns:r="http://schemas.openxmlformats.org/officeDocument/2006/relationships" id="262" r:id="Ra3d590f6f0c64d9f"/>
    <p:sldId xmlns:r="http://schemas.openxmlformats.org/officeDocument/2006/relationships" id="263" r:id="Rf0173a33933d4eaa"/>
    <p:sldId xmlns:r="http://schemas.openxmlformats.org/officeDocument/2006/relationships" id="264" r:id="Rf961df08b17143e7"/>
    <p:sldId xmlns:r="http://schemas.openxmlformats.org/officeDocument/2006/relationships" id="265" r:id="Rf081dfd855594743"/>
    <p:sldId xmlns:r="http://schemas.openxmlformats.org/officeDocument/2006/relationships" id="266" r:id="R2bc3b79fea7f4a43"/>
    <p:sldId xmlns:r="http://schemas.openxmlformats.org/officeDocument/2006/relationships" id="267" r:id="R135bead2d56e4389"/>
    <p:sldId xmlns:r="http://schemas.openxmlformats.org/officeDocument/2006/relationships" id="268" r:id="R66c7e717b042423f"/>
    <p:sldId xmlns:r="http://schemas.openxmlformats.org/officeDocument/2006/relationships" id="269" r:id="Rffb28d66e35848a2"/>
    <p:sldId xmlns:r="http://schemas.openxmlformats.org/officeDocument/2006/relationships" id="270" r:id="R4103117bfa8d4445"/>
    <p:sldId xmlns:r="http://schemas.openxmlformats.org/officeDocument/2006/relationships" id="271" r:id="R59e6397b1f3a49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16ef6fbf994bf7" /><Relationship Type="http://schemas.openxmlformats.org/officeDocument/2006/relationships/slideMaster" Target="/ppt/slideMasters/slideMaster1.xml" Id="R9bcf2cb3a7544926" /><Relationship Type="http://schemas.openxmlformats.org/officeDocument/2006/relationships/notesMaster" Target="/ppt/notesMasters/notesMaster1.xml" Id="R87515803782a434b" /><Relationship Type="http://schemas.openxmlformats.org/officeDocument/2006/relationships/presProps" Target="/ppt/presProps.xml" Id="Rd795f8fb5307498b" /><Relationship Type="http://schemas.openxmlformats.org/officeDocument/2006/relationships/tableStyles" Target="/ppt/tableStyles.xml" Id="R6b1fcd5958414ec4" /><Relationship Type="http://schemas.openxmlformats.org/officeDocument/2006/relationships/slide" Target="/ppt/slides/slide1.xml" Id="R87cbab8d1c0d4232" /><Relationship Type="http://schemas.openxmlformats.org/officeDocument/2006/relationships/slide" Target="/ppt/slides/slide2.xml" Id="R37accbb898974213" /><Relationship Type="http://schemas.openxmlformats.org/officeDocument/2006/relationships/slide" Target="/ppt/slides/slide3.xml" Id="R84890dc2b68f4ffc" /><Relationship Type="http://schemas.openxmlformats.org/officeDocument/2006/relationships/slide" Target="/ppt/slides/slide4.xml" Id="Rb09eaa327ae14907" /><Relationship Type="http://schemas.openxmlformats.org/officeDocument/2006/relationships/slide" Target="/ppt/slides/slide5.xml" Id="R74e826dcb6184d64" /><Relationship Type="http://schemas.openxmlformats.org/officeDocument/2006/relationships/slide" Target="/ppt/slides/slide6.xml" Id="Re80ffe123f6d485e" /><Relationship Type="http://schemas.openxmlformats.org/officeDocument/2006/relationships/slide" Target="/ppt/slides/slide7.xml" Id="Ra3d590f6f0c64d9f" /><Relationship Type="http://schemas.openxmlformats.org/officeDocument/2006/relationships/slide" Target="/ppt/slides/slide8.xml" Id="Rf0173a33933d4eaa" /><Relationship Type="http://schemas.openxmlformats.org/officeDocument/2006/relationships/slide" Target="/ppt/slides/slide9.xml" Id="Rf961df08b17143e7" /><Relationship Type="http://schemas.openxmlformats.org/officeDocument/2006/relationships/slide" Target="/ppt/slides/slide10.xml" Id="Rf081dfd855594743" /><Relationship Type="http://schemas.openxmlformats.org/officeDocument/2006/relationships/slide" Target="/ppt/slides/slide11.xml" Id="R2bc3b79fea7f4a43" /><Relationship Type="http://schemas.openxmlformats.org/officeDocument/2006/relationships/slide" Target="/ppt/slides/slide12.xml" Id="R135bead2d56e4389" /><Relationship Type="http://schemas.openxmlformats.org/officeDocument/2006/relationships/slide" Target="/ppt/slides/slide13.xml" Id="R66c7e717b042423f" /><Relationship Type="http://schemas.openxmlformats.org/officeDocument/2006/relationships/slide" Target="/ppt/slides/slide14.xml" Id="Rffb28d66e35848a2" /><Relationship Type="http://schemas.openxmlformats.org/officeDocument/2006/relationships/slide" Target="/ppt/slides/slide15.xml" Id="R4103117bfa8d4445" /><Relationship Type="http://schemas.openxmlformats.org/officeDocument/2006/relationships/slide" Target="/ppt/slides/slide16.xml" Id="R59e6397b1f3a49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6c529f96094b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d639a188e043ef" /><Relationship Type="http://schemas.openxmlformats.org/officeDocument/2006/relationships/notesMaster" Target="/ppt/notesMasters/notesMaster1.xml" Id="Rc8035bf4a54c45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1bf41666ed4a2a" /><Relationship Type="http://schemas.openxmlformats.org/officeDocument/2006/relationships/notesMaster" Target="/ppt/notesMasters/notesMaster1.xml" Id="Rab8b8757afa24f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80dcad6d684109" /><Relationship Type="http://schemas.openxmlformats.org/officeDocument/2006/relationships/notesMaster" Target="/ppt/notesMasters/notesMaster1.xml" Id="R6314509cab1449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7f6e3ef2a14e61" /><Relationship Type="http://schemas.openxmlformats.org/officeDocument/2006/relationships/notesMaster" Target="/ppt/notesMasters/notesMaster1.xml" Id="R9f190c6b437a4e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1c9cbaaba74c65" /><Relationship Type="http://schemas.openxmlformats.org/officeDocument/2006/relationships/notesMaster" Target="/ppt/notesMasters/notesMaster1.xml" Id="Rae6397d18ef243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108e952d0443b1" /><Relationship Type="http://schemas.openxmlformats.org/officeDocument/2006/relationships/notesMaster" Target="/ppt/notesMasters/notesMaster1.xml" Id="R8d28ad1fd20c4e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754113b4454e4a" /><Relationship Type="http://schemas.openxmlformats.org/officeDocument/2006/relationships/notesMaster" Target="/ppt/notesMasters/notesMaster1.xml" Id="Rf486d50b19f143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d9d30538ec4f23" /><Relationship Type="http://schemas.openxmlformats.org/officeDocument/2006/relationships/notesMaster" Target="/ppt/notesMasters/notesMaster1.xml" Id="Ra59b740a7eb147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b3c0ee6bfa74c61" /><Relationship Type="http://schemas.openxmlformats.org/officeDocument/2006/relationships/notesMaster" Target="/ppt/notesMasters/notesMaster1.xml" Id="R0e341de0bfc941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388784fb1b64372" /><Relationship Type="http://schemas.openxmlformats.org/officeDocument/2006/relationships/notesMaster" Target="/ppt/notesMasters/notesMaster1.xml" Id="Rd6314acf05d94a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5d02f2b5ba4ff4" /><Relationship Type="http://schemas.openxmlformats.org/officeDocument/2006/relationships/notesMaster" Target="/ppt/notesMasters/notesMaster1.xml" Id="R96818c93fcfb42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4eed2e440e4841" /><Relationship Type="http://schemas.openxmlformats.org/officeDocument/2006/relationships/notesMaster" Target="/ppt/notesMasters/notesMaster1.xml" Id="R3a3be40aa59945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79aa642a6440f3" /><Relationship Type="http://schemas.openxmlformats.org/officeDocument/2006/relationships/notesMaster" Target="/ppt/notesMasters/notesMaster1.xml" Id="R9884dc6f26f34dd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736916655b045c9" /><Relationship Type="http://schemas.openxmlformats.org/officeDocument/2006/relationships/notesMaster" Target="/ppt/notesMasters/notesMaster1.xml" Id="R976e6880db3d434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09f7b07e214273" /><Relationship Type="http://schemas.openxmlformats.org/officeDocument/2006/relationships/notesMaster" Target="/ppt/notesMasters/notesMaster1.xml" Id="R46765066354049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df6729899c543f6" /><Relationship Type="http://schemas.openxmlformats.org/officeDocument/2006/relationships/notesMaster" Target="/ppt/notesMasters/notesMaster1.xml" Id="Rc5f04f2d6615464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Audience: engineers familiar with IAM, VPCs, Lambda and basic Python. Goal: create a controlled misconfiguration, capture its API event and restore the desired state with Python. The exercises use dedicated workshop accounts and empty resources. Decorative background: AI-generated abstract technology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Boto3 provides AWS service clients. Separate event parsing, compliance decisions and AWS writes so the decision logic can be tested with recorded events. Reuse SDK clients across invocations, while keeping request-specific data inside the handler. Lambda obtains temporary credentials through its execution role. Avoid hardcoded credentials.</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https://docs.aws.amazon.com/boto3/latest/guide/credentials.html</a:t>
            </a:r>
          </a:p>
          <a:p xmlns:a="http://schemas.openxmlformats.org/drawingml/2006/main">
            <a:r>
              <a:t>Source: https://docs.aws.amazon.com/lambda/latest/dg/best-practices.html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member accounts under a dedicated Workshop OU. Ten participants per account. A user01 login in one account is a different IAM identity from user01 in another account. Use the assigned CSV row and account login URL. All exercises run in us-east-1. The instructor supplies the VPC, audit trail, execution roles and participant permissions.</a:t>
            </a:r>
          </a:p>
          <a:p xmlns:a="http://schemas.openxmlformats.org/drawingml/2006/main">
            <a:r>
              <a:t/>
            </a:r>
          </a:p>
          <a:p xmlns:a="http://schemas.openxmlformats.org/drawingml/2006/main">
            <a:r>
              <a:t>Workshop configuration: workshop_setup.md, version 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corrective control: the change happens before the repair. CloudTrail API events reach the default EventBridge bus when an appropriate trail logs them. These labs use mutating management events. Delivery and repair are asynchronous. Read the resource again to verify the outcome.</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https://docs.aws.amazon.com/eventbridge/latest/userguide/eb-service-event-cloudtrail.html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IAM policies grant allowed operations. Permissions boundaries limit an identity, and SCPs limit member-account permissions. Neither boundary nor SCP grants permissions. Explicit denies take precedence. Resource-policy evaluation has additional nuances, which is why the package uses explicit boundary denies. The deny-all boundary on test users keeps them inert even when a student attaches AdministratorAccess.</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https://docs.aws.amazon.com/IAM/latest/UserGuide/access_policies_boundaries.html</a:t>
            </a:r>
          </a:p>
          <a:p xmlns:a="http://schemas.openxmlformats.org/drawingml/2006/main">
            <a:r>
              <a:t>Source: https://docs.aws.amazon.com/organizations/latest/userguide/orgs_manage_policies_scps.html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for participant user01. Create the function with the existing Lambda execution role. Create rules on the default event bus and choose the existing EventBridge invocation role. This package uses an EventBridge execution role for Lambda invocation. It does not grant students lambda:AddPermission or permission to create new IAM roles. The runtime role permits repairs and log writes, not arbitrary resource creation.</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https://docs.aws.amazon.com/eventbridge/latest/userguide/eb-events-iam-roles.html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 your tagged SG and subnet in the workshop VPC. The suggested user01 subnet CIDR is 10.90.1.0/24 when the VPC is 10.90.0.0/16. CIDRs are suggestions, not IAM-enforced allocations. For port tests, inspect port ranges, not just equality with ToPort. Revoke only the violating ingress permission or rule. In production also evaluate IPv6 ::/0. These labs need no EC2 instance or public IP.</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https://docs.aws.amazon.com/service-authorization/latest/reference/list_ec2.html</a:t>
            </a:r>
          </a:p>
          <a:p xmlns:a="http://schemas.openxmlformats.org/drawingml/2006/main">
            <a:r>
              <a:t>Source: https://docs.aws.amazon.com/boto3/latest/reference/services/ec2/client/modify_subnet_attribute.html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first create their assigned root-path test user, such as Workshop-Target-01, with Workshop=true, Owner=user01 and the pre-created Workshop-Target-DenyAll boundary. No target console login is permitted. The test user can receive a broad policy, but the explicit deny-all boundary prevents effective AWS access. Deactivate the target access key, and avoid logging credentials or complete IAM events.</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https://docs.aws.amazon.com/IAM/latest/UserGuide/access_policies_boundaries.html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an empty fixed-name bucket and standard queue. Discover the exact bucket Block Public Access API event name from the pilot CloudTrail record before configuring its rule. The AWS SDK operation and CloudTrail event name may differ. SQS policy and encryption changes share SetQueueAttributes, so Python must inspect which attribute changed and the current state. For this exercise remove the deliberately public SendMessage statement, preserving unrelated policy statements. Restore encryption with SqsManagedSseEnabled=true.</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https://docs.aws.amazon.com/AmazonS3/latest/userguide/access-control-block-public-access.html</a:t>
            </a:r>
          </a:p>
          <a:p xmlns:a="http://schemas.openxmlformats.org/drawingml/2006/main">
            <a:r>
              <a:t>Source: https://docs.aws.amazon.com/AWSSimpleQueueService/latest/APIReference/API_SetQueueAttributes.html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pattern for user01 subnet changes. Replace ACCOUNT_ID with the network member account number containing user01. The ARN must include the /workshop/ IAM path. Filtering to the student caller excludes writes made by the Lambda execution role. The handler should still validate source, event name, absence of errorCode and request parameters. Test the pattern against a captured event before adding the target.</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https://docs.aws.amazon.com/eventbridge/latest/userguide/eb-service-event-cloudtrail.html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 event as a signal, not a complete description of current state. A later change may already have made the resource compliant. Validate ownership and scope independently of the event filter. A duplicate event should cause no additional mutation once the resource is compliant. Log only selected identifiers and outcomes. Let actionable failures surface so monitoring and retries can detect them.</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https://docs.aws.amazon.com/lambda/latest/dg/best-practices.html</a:t>
            </a:r>
          </a:p>
          <a:p xmlns:a="http://schemas.openxmlformats.org/drawingml/2006/main">
            <a:r>
              <a:t>Source: https://docs.aws.amazon.com/lambda/latest/dg/invocation-async-error-handling.html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helper function, not a complete deployable handler. Initialize ec2 = boto3.client("ec2") outside the handler. Set OWNER to the assigned username and VPC_ID to the workshop VPC. Call this helper only after validating a successful ModifySubnetAttribute event and extracting requestParameters.subnetId. Check Workshop=true as well as Owner. The Lambda role independently enforces ownership and VPC restrictions. Do not hardcode AWS credentials. For live verification, describe the subnet again and log its sanitized outcome.</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https://docs.aws.amazon.com/boto3/latest/reference/services/ec2/client/modify_subnet_attribute.html</a:t>
            </a:r>
          </a:p>
          <a:p xmlns:a="http://schemas.openxmlformats.org/drawingml/2006/main">
            <a:r>
              <a:t>Source: https://docs.aws.amazon.com/boto3/latest/guide/credentials.html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standard on-demand Lambda functions, separate invocations can execute concurrently in separate execution environments. The instructor may set reserved concurrency to 1 after functions exist, subject to available account capacity. This caps concurrent execution for that function but does not ensure event order or protect against external writes. Asynchronous retries and duplicate deliveries make idempotent behavior essential. EventBridge invokes using the event role and Lambda applies repairs using its execution role.</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https://docs.aws.amazon.com/lambda/latest/dg/invocation-async-error-handling.html</a:t>
            </a:r>
          </a:p>
          <a:p xmlns:a="http://schemas.openxmlformats.org/drawingml/2006/main">
            <a:r>
              <a:t>Source: https://docs.aws.amazon.com/lambda/latest/dg/configuration-concurrency.html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Workshop settings are recommendations, not IAM-enforced limits: begin with 128–256 MB, a 10-second timeout and short log retention. Increase only if measured execution needs it. Standard Lambda pricing depends on requests and duration weighted by memory. Repeated events, logs and related service use can add costs. Reserved concurrency does not create a spending cap. Instructor-level Budgets alerts assist monitoring. Students cannot change reserved concurrency or delete/recreate functions after the cap.</a:t>
            </a:r>
          </a:p>
          <a:p xmlns:a="http://schemas.openxmlformats.org/drawingml/2006/main">
            <a:r>
              <a:t/>
            </a:r>
          </a:p>
          <a:p xmlns:a="http://schemas.openxmlformats.org/drawingml/2006/main">
            <a:r>
              <a:t>Workshop configuration: workshop_setup.md, version 3.</a:t>
            </a:r>
          </a:p>
          <a:p xmlns:a="http://schemas.openxmlformats.org/drawingml/2006/main">
            <a:r>
              <a:t>Source: https://aws.amazon.com/lambda/pricing/</a:t>
            </a:r>
          </a:p>
          <a:p xmlns:a="http://schemas.openxmlformats.org/drawingml/2006/main">
            <a:r>
              <a:t>Source: https://docs.aws.amazon.com/lambda/latest/dg/configuration-concurrency.html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account cohort implements the scenarios available in its account. Demonstrate at least one complete scenario, then repeat the design for the remaining assigned cases. Students create resources through the console and author Python in Lambda. The package does not provide student access keys or CloudShell. Record the successful API event, end-state configuration and sanitized repair log. Allow for asynchronous delivery and SQS attribute propagation before declaring a failed repair.</a:t>
            </a:r>
          </a:p>
          <a:p xmlns:a="http://schemas.openxmlformats.org/drawingml/2006/main">
            <a:r>
              <a:t/>
            </a:r>
          </a:p>
          <a:p xmlns:a="http://schemas.openxmlformats.org/drawingml/2006/main">
            <a:r>
              <a:t>Workshop configuration: workshop_setup.md, version 3.</a:t>
            </a:r>
          </a:p>
          <a:p xmlns:a="http://schemas.openxmlformats.org/drawingml/2006/main">
            <a:r>
              <a:t>Source: https://docs.aws.amazon.com/AWSSimpleQueueService/latest/APIReference/API_SetQueueAttributes.html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Success evidence: the relevant API event, resource identifier, compliant final state and a log showing repair or no-op. A cross-owner negative test should return AccessDenied or out_of_scope without a mutation. For production, define approved baselines, exception handling, monitoring of missed or failed events and the restoration path before broad deployment. Destructive or business-sensitive repairs may require approval. Clean up the lab by disabling rules first, then removing functions and exercise resources. Instructors remove protected IAM resources and final foundations.</a:t>
            </a:r>
          </a:p>
          <a:p xmlns:a="http://schemas.openxmlformats.org/drawingml/2006/main">
            <a:r>
              <a:t/>
            </a:r>
          </a:p>
          <a:p xmlns:a="http://schemas.openxmlformats.org/drawingml/2006/main">
            <a:r>
              <a:t>Workshop configuration: workshop_setup.md, version 3.</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2b3e7461f443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7d2148a74f471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b92780786a4b1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4cbcffcdaf7427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7835d3b40eb4b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d11f9be30d48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E0F4271-D94E-43B8-B453-1AE7998667EE}"/>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A651C31-3B21-446D-A50E-A557FF08E8C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8D14832B-9397-4293-BDA6-92B317358D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0C7AC44-1E4F-4EFC-AECA-6A7F44667ED8}"/>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289F7ED4-94C1-48A9-8749-EF9E2A1C00D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804844F-E996-4F36-B923-B32E6A8F4B8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88DB16F-9550-4AEA-9889-59CCEBEDC0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B6AC6A7-574B-4FAA-8287-8AFFFF89C6D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AA6F874-C4E7-4C92-B3C0-69BD09CD08B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9436C48-B2AB-4D8D-8F37-69A412F492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A117EF20-E051-4202-87C9-FB506CB912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668A0821-8BBB-40AA-A854-4853C0CC32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775A614-1A21-48DA-A38C-B073367C5E0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A4598DDB-043F-4B44-9F3F-80396F4592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F68BB80-E422-4883-9401-FF1CA6E81A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0795064fb74116" /><Relationship Type="http://schemas.openxmlformats.org/officeDocument/2006/relationships/slideLayout" Target="/ppt/slideLayouts/slideLayout1.xml" Id="R9c62d11c80334301" /><Relationship Type="http://schemas.openxmlformats.org/officeDocument/2006/relationships/slideLayout" Target="/ppt/slideLayouts/slideLayout2.xml" Id="Rb9d44f894ec84706" /><Relationship Type="http://schemas.openxmlformats.org/officeDocument/2006/relationships/slideLayout" Target="/ppt/slideLayouts/slideLayout3.xml" Id="Rb2592ab04e724d39" /><Relationship Type="http://schemas.openxmlformats.org/officeDocument/2006/relationships/slideLayout" Target="/ppt/slideLayouts/slideLayout4.xml" Id="R33ecb31071d84913" /><Relationship Type="http://schemas.openxmlformats.org/officeDocument/2006/relationships/slideLayout" Target="/ppt/slideLayouts/slideLayout5.xml" Id="Rf49a77098cdc4299" /><Relationship Type="http://schemas.openxmlformats.org/officeDocument/2006/relationships/slideLayout" Target="/ppt/slideLayouts/slideLayout6.xml" Id="Rc1060075f6044f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62d11c80334301"/>
    <p:sldLayoutId xmlns:r="http://schemas.openxmlformats.org/officeDocument/2006/relationships" id="2147483650" r:id="Rb9d44f894ec84706"/>
    <p:sldLayoutId xmlns:r="http://schemas.openxmlformats.org/officeDocument/2006/relationships" id="2147483651" r:id="Rb2592ab04e724d39"/>
    <p:sldLayoutId xmlns:r="http://schemas.openxmlformats.org/officeDocument/2006/relationships" id="2147483652" r:id="R33ecb31071d84913"/>
    <p:sldLayoutId xmlns:r="http://schemas.openxmlformats.org/officeDocument/2006/relationships" id="2147483653" r:id="Rf49a77098cdc4299"/>
    <p:sldLayoutId xmlns:r="http://schemas.openxmlformats.org/officeDocument/2006/relationships" id="2147483654" r:id="Rc1060075f6044f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d3c74c183e47b4" /><Relationship Type="http://schemas.openxmlformats.org/officeDocument/2006/relationships/image" Target="/ppt/media/image.png" Id="R1f4cfc426b8e49d3" /><Relationship Type="http://schemas.openxmlformats.org/officeDocument/2006/relationships/notesSlide" Target="/ppt/notesSlides/notesSlide1.xml" Id="Rc3a906fbec9a40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aa7a1fb1a94003" /><Relationship Type="http://schemas.openxmlformats.org/officeDocument/2006/relationships/notesSlide" Target="/ppt/notesSlides/notesSlide2.xml" Id="R140044f7e22c4b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3e40098ce24ce6" /><Relationship Type="http://schemas.openxmlformats.org/officeDocument/2006/relationships/notesSlide" Target="/ppt/notesSlides/notesSlide3.xml" Id="R8141106030f643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3b1ff147ae48f9" /><Relationship Type="http://schemas.openxmlformats.org/officeDocument/2006/relationships/notesSlide" Target="/ppt/notesSlides/notesSlide4.xml" Id="Rbb4419227a4040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0e8401c6aea42df" /><Relationship Type="http://schemas.openxmlformats.org/officeDocument/2006/relationships/notesSlide" Target="/ppt/notesSlides/notesSlide5.xml" Id="Rd0884e2529bf4b4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25ccec4c4724fc4" /><Relationship Type="http://schemas.openxmlformats.org/officeDocument/2006/relationships/notesSlide" Target="/ppt/notesSlides/notesSlide6.xml" Id="Re90f418489434ad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2c97fadc0d441f" /><Relationship Type="http://schemas.openxmlformats.org/officeDocument/2006/relationships/notesSlide" Target="/ppt/notesSlides/notesSlide7.xml" Id="R73e4fb1b562d41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b0f1487f82463c" /><Relationship Type="http://schemas.openxmlformats.org/officeDocument/2006/relationships/notesSlide" Target="/ppt/notesSlides/notesSlide8.xml" Id="Rbb578e7ff22a4d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8c1ba5cdeba4878" /><Relationship Type="http://schemas.openxmlformats.org/officeDocument/2006/relationships/notesSlide" Target="/ppt/notesSlides/notesSlide9.xml" Id="R6e6ca285001446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8f74e9dca674665" /><Relationship Type="http://schemas.openxmlformats.org/officeDocument/2006/relationships/notesSlide" Target="/ppt/notesSlides/notesSlide10.xml" Id="Rd4c7105d05674ea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916cc2f7f2b4d9d" /><Relationship Type="http://schemas.openxmlformats.org/officeDocument/2006/relationships/notesSlide" Target="/ppt/notesSlides/notesSlide11.xml" Id="R1107c69a743a4ee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82d39d45e784be4" /><Relationship Type="http://schemas.openxmlformats.org/officeDocument/2006/relationships/notesSlide" Target="/ppt/notesSlides/notesSlide12.xml" Id="R211184accb8442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30b5bf7c49348f7" /><Relationship Type="http://schemas.openxmlformats.org/officeDocument/2006/relationships/notesSlide" Target="/ppt/notesSlides/notesSlide13.xml" Id="R35416cf8009541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168809b85b44746" /><Relationship Type="http://schemas.openxmlformats.org/officeDocument/2006/relationships/notesSlide" Target="/ppt/notesSlides/notesSlide14.xml" Id="R2aff4729a7cb4be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a55650e55e545d9" /><Relationship Type="http://schemas.openxmlformats.org/officeDocument/2006/relationships/notesSlide" Target="/ppt/notesSlides/notesSlide15.xml" Id="R4341ae434cea4e8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2d49eab0e78488b" /><Relationship Type="http://schemas.openxmlformats.org/officeDocument/2006/relationships/notesSlide" Target="/ppt/notesSlides/notesSlide16.xml" Id="R3b698c0760d44ee9" /></Relationships>
</file>

<file path=ppt/slides/slide1.xml><?xml version="1.0" encoding="utf-8"?>
<p:sld xmlns:p="http://schemas.openxmlformats.org/presentationml/2006/main">
  <p:cSld>
    <p:bg>
      <p:bgPr>
        <a:solidFill xmlns:a="http://schemas.openxmlformats.org/drawingml/2006/main">
          <a:srgbClr val="101B2B"/>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f4cfc426b8e49d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F3328D95-9CBD-4A50-9CEA-743B67AAE85B}"/>
              </a:ext>
            </a:extLst>
          </p:cNvPr>
          <p:cNvSpPr>
            <a:spLocks xmlns:a="http://schemas.openxmlformats.org/drawingml/2006/main" noGrp="1"/>
          </p:cNvSpPr>
          <p:nvPr/>
        </p:nvSpPr>
        <p:spPr>
          <a:xfrm xmlns:a="http://schemas.openxmlformats.org/drawingml/2006/main">
            <a:off x="685800" y="1666875"/>
            <a:ext cx="819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FFFFFF"/>
                </a:solidFill>
                <a:latin typeface="DejaVu Sans"/>
                <a:ea typeface="DejaVu Sans"/>
                <a:cs typeface="DejaVu Sans"/>
              </a:defRPr>
            </a:pPr>
            <a:r>
              <a:rPr sz="5100" b="1">
                <a:solidFill>
                  <a:srgbClr val="FFFFFF"/>
                </a:solidFill>
                <a:latin typeface="DejaVu Sans"/>
                <a:ea typeface="DejaVu Sans"/>
                <a:cs typeface="DejaVu Sans"/>
              </a:rPr>
              <a:t>Python as a Shield</a:t>
            </a:r>
          </a:p>
        </p:txBody>
      </p:sp>
      <p:sp>
        <p:nvSpPr>
          <p:cNvPr id="3" name="text-1">
            <a:extLst xmlns:a="http://schemas.openxmlformats.org/drawingml/2006/main">
              <a:ext uri="{FF2B5EF4-FFF2-40B4-BE49-F238E27FC236}">
                <a16:creationId xmlns:a16="http://schemas.microsoft.com/office/drawing/2014/main" id="{CC315BD6-E3BB-4FDE-B275-EBB8A5B29F58}"/>
              </a:ext>
            </a:extLst>
          </p:cNvPr>
          <p:cNvSpPr>
            <a:spLocks xmlns:a="http://schemas.openxmlformats.org/drawingml/2006/main" noGrp="1"/>
          </p:cNvSpPr>
          <p:nvPr/>
        </p:nvSpPr>
        <p:spPr>
          <a:xfrm xmlns:a="http://schemas.openxmlformats.org/drawingml/2006/main">
            <a:off x="723900" y="2857500"/>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625" b="0">
                <a:solidFill>
                  <a:srgbClr val="C5D6E5"/>
                </a:solidFill>
                <a:latin typeface="DejaVu Sans"/>
                <a:ea typeface="DejaVu Sans"/>
                <a:cs typeface="DejaVu Sans"/>
              </a:defRPr>
            </a:pPr>
            <a:r>
              <a:rPr sz="2625" b="0">
                <a:solidFill>
                  <a:srgbClr val="C5D6E5"/>
                </a:solidFill>
                <a:latin typeface="DejaVu Sans"/>
                <a:ea typeface="DejaVu Sans"/>
                <a:cs typeface="DejaVu Sans"/>
              </a:rPr>
              <a:t>Automating AWS security remediation</a:t>
            </a:r>
          </a:p>
        </p:txBody>
      </p:sp>
      <p:sp>
        <p:nvSpPr>
          <p:cNvPr id="4" name="text-2">
            <a:extLst xmlns:a="http://schemas.openxmlformats.org/drawingml/2006/main">
              <a:ext uri="{FF2B5EF4-FFF2-40B4-BE49-F238E27FC236}">
                <a16:creationId xmlns:a16="http://schemas.microsoft.com/office/drawing/2014/main" id="{26ADF723-B117-4966-8C2D-90D89E9CB68B}"/>
              </a:ext>
            </a:extLst>
          </p:cNvPr>
          <p:cNvSpPr>
            <a:spLocks xmlns:a="http://schemas.openxmlformats.org/drawingml/2006/main" noGrp="1"/>
          </p:cNvSpPr>
          <p:nvPr/>
        </p:nvSpPr>
        <p:spPr>
          <a:xfrm xmlns:a="http://schemas.openxmlformats.org/drawingml/2006/main">
            <a:off x="723900" y="5143500"/>
            <a:ext cx="685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E5AC6B"/>
                </a:solidFill>
                <a:latin typeface="DejaVu Sans"/>
                <a:ea typeface="DejaVu Sans"/>
                <a:cs typeface="DejaVu Sans"/>
              </a:defRPr>
            </a:pPr>
            <a:r>
              <a:rPr sz="2100" b="0">
                <a:solidFill>
                  <a:srgbClr val="E5AC6B"/>
                </a:solidFill>
                <a:latin typeface="DejaVu Sans"/>
                <a:ea typeface="DejaVu Sans"/>
                <a:cs typeface="DejaVu Sans"/>
              </a:rPr>
              <a:t>Intermediate workshop</a:t>
            </a:r>
          </a:p>
        </p:txBody>
      </p:sp>
    </p:spTree>
    <p:extLst>
      <p:ext uri="{BB962C8B-B14F-4D97-AF65-F5344CB8AC3E}">
        <p14:creationId xmlns:p14="http://schemas.microsoft.com/office/powerpoint/2010/main" val="1679208571"/>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82741653-9C7D-44F5-93D2-5E15BA8A80B6}"/>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Why Python fits security automation</a:t>
            </a:r>
          </a:p>
        </p:txBody>
      </p:sp>
      <p:sp>
        <p:nvSpPr>
          <p:cNvPr id="2" name="text-1">
            <a:extLst xmlns:a="http://schemas.openxmlformats.org/drawingml/2006/main">
              <a:ext uri="{FF2B5EF4-FFF2-40B4-BE49-F238E27FC236}">
                <a16:creationId xmlns:a16="http://schemas.microsoft.com/office/drawing/2014/main" id="{809B65A9-9694-4C5E-B54F-F78F963307C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02</a:t>
            </a:r>
          </a:p>
        </p:txBody>
      </p:sp>
      <p:sp>
        <p:nvSpPr>
          <p:cNvPr id="3" name="text-2">
            <a:extLst xmlns:a="http://schemas.openxmlformats.org/drawingml/2006/main">
              <a:ext uri="{FF2B5EF4-FFF2-40B4-BE49-F238E27FC236}">
                <a16:creationId xmlns:a16="http://schemas.microsoft.com/office/drawing/2014/main" id="{111C4B6C-70F1-4A1C-AB08-5E7C23CDB33B}"/>
              </a:ext>
            </a:extLst>
          </p:cNvPr>
          <p:cNvSpPr>
            <a:spLocks xmlns:a="http://schemas.openxmlformats.org/drawingml/2006/main" noGrp="1"/>
          </p:cNvSpPr>
          <p:nvPr/>
        </p:nvSpPr>
        <p:spPr>
          <a:xfrm xmlns:a="http://schemas.openxmlformats.org/drawingml/2006/main">
            <a:off x="685800" y="1771650"/>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Boto3 calls the same AWS APIs used by the console.</a:t>
            </a:r>
          </a:p>
        </p:txBody>
      </p:sp>
      <p:sp>
        <p:nvSpPr>
          <p:cNvPr id="4" name="text-3">
            <a:extLst xmlns:a="http://schemas.openxmlformats.org/drawingml/2006/main">
              <a:ext uri="{FF2B5EF4-FFF2-40B4-BE49-F238E27FC236}">
                <a16:creationId xmlns:a16="http://schemas.microsoft.com/office/drawing/2014/main" id="{5B57620B-10EA-4B9A-81F6-25247E5B133E}"/>
              </a:ext>
            </a:extLst>
          </p:cNvPr>
          <p:cNvSpPr>
            <a:spLocks xmlns:a="http://schemas.openxmlformats.org/drawingml/2006/main" noGrp="1"/>
          </p:cNvSpPr>
          <p:nvPr/>
        </p:nvSpPr>
        <p:spPr>
          <a:xfrm xmlns:a="http://schemas.openxmlformats.org/drawingml/2006/main">
            <a:off x="685800" y="265747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Dictionaries make CloudTrail JSON easy to inspect.</a:t>
            </a:r>
          </a:p>
        </p:txBody>
      </p:sp>
      <p:sp>
        <p:nvSpPr>
          <p:cNvPr id="5" name="text-4">
            <a:extLst xmlns:a="http://schemas.openxmlformats.org/drawingml/2006/main">
              <a:ext uri="{FF2B5EF4-FFF2-40B4-BE49-F238E27FC236}">
                <a16:creationId xmlns:a16="http://schemas.microsoft.com/office/drawing/2014/main" id="{278BD6D3-9287-4E8F-9B78-A41A00F022C3}"/>
              </a:ext>
            </a:extLst>
          </p:cNvPr>
          <p:cNvSpPr>
            <a:spLocks xmlns:a="http://schemas.openxmlformats.org/drawingml/2006/main" noGrp="1"/>
          </p:cNvSpPr>
          <p:nvPr/>
        </p:nvSpPr>
        <p:spPr>
          <a:xfrm xmlns:a="http://schemas.openxmlformats.org/drawingml/2006/main">
            <a:off x="685800" y="3543300"/>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Small functions keep repair logic readable and testable.</a:t>
            </a:r>
          </a:p>
        </p:txBody>
      </p:sp>
      <p:sp>
        <p:nvSpPr>
          <p:cNvPr id="6" name="text-5">
            <a:extLst xmlns:a="http://schemas.openxmlformats.org/drawingml/2006/main">
              <a:ext uri="{FF2B5EF4-FFF2-40B4-BE49-F238E27FC236}">
                <a16:creationId xmlns:a16="http://schemas.microsoft.com/office/drawing/2014/main" id="{C87821AD-1EE1-46EF-9136-C918FE5D467E}"/>
              </a:ext>
            </a:extLst>
          </p:cNvPr>
          <p:cNvSpPr>
            <a:spLocks xmlns:a="http://schemas.openxmlformats.org/drawingml/2006/main" noGrp="1"/>
          </p:cNvSpPr>
          <p:nvPr/>
        </p:nvSpPr>
        <p:spPr>
          <a:xfrm xmlns:a="http://schemas.openxmlformats.org/drawingml/2006/main">
            <a:off x="685800" y="442912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Lambda runs code when matching events arrive.</a:t>
            </a:r>
          </a:p>
        </p:txBody>
      </p:sp>
    </p:spTree>
    <p:extLst>
      <p:ext uri="{BB962C8B-B14F-4D97-AF65-F5344CB8AC3E}">
        <p14:creationId xmlns:p14="http://schemas.microsoft.com/office/powerpoint/2010/main" val="1232116318"/>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C9522522-0983-42A9-81BE-E2F4F6C3E242}"/>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Workshop environment</a:t>
            </a:r>
          </a:p>
        </p:txBody>
      </p:sp>
      <p:sp>
        <p:nvSpPr>
          <p:cNvPr id="2" name="text-1">
            <a:extLst xmlns:a="http://schemas.openxmlformats.org/drawingml/2006/main">
              <a:ext uri="{FF2B5EF4-FFF2-40B4-BE49-F238E27FC236}">
                <a16:creationId xmlns:a16="http://schemas.microsoft.com/office/drawing/2014/main" id="{F61D0C0D-A578-4F9C-8466-B8228AEFF655}"/>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03</a:t>
            </a:r>
          </a:p>
        </p:txBody>
      </p:sp>
      <p:graphicFrame>
        <p:nvGraphicFramePr>
          <p:cNvPr id="7" name=""/>
          <p:cNvGraphicFramePr/>
          <p:nvPr/>
        </p:nvGraphicFramePr>
        <p:xfrm>
          <a:off xmlns:a="http://schemas.openxmlformats.org/drawingml/2006/main" x="685800" y="1762125"/>
          <a:ext xmlns:a="http://schemas.openxmlformats.org/drawingml/2006/main" cx="10820400" cy="3286125"/>
        </p:xfrm>
        <a:graphic xmlns:a="http://schemas.openxmlformats.org/drawingml/2006/main">
          <a:graphicData uri="http://schemas.openxmlformats.org/drawingml/2006/table">
            <a:tbl>
              <a:tblPr/>
              <a:tblGrid>
                <a:gridCol w="3286125"/>
                <a:gridCol w="3667125"/>
                <a:gridCol w="3867150"/>
              </a:tblGrid>
              <a:tr h="821531">
                <a:tc>
                  <a:txBody>
                    <a:bodyPr/>
                    <a:lstStyle/>
                    <a:p>
                      <a:r>
                        <a:rPr sz="2025" b="1">
                          <a:solidFill>
                            <a:srgbClr val="FFFFFF"/>
                          </a:solidFill>
                          <a:latin typeface="DejaVu Sans"/>
                          <a:ea typeface="DejaVu Sans"/>
                          <a:cs typeface="DejaVu Sans"/>
                        </a:rPr>
                        <a:t>Account</a:t>
                      </a:r>
                    </a:p>
                  </a:txBody>
                  <a:tcPr marL="133350" marR="133350" marT="114300" marB="114300">
                    <a:solidFill>
                      <a:srgbClr val="13283F"/>
                    </a:solidFill>
                  </a:tcPr>
                </a:tc>
                <a:tc>
                  <a:txBody>
                    <a:bodyPr/>
                    <a:lstStyle/>
                    <a:p>
                      <a:r>
                        <a:rPr sz="2025" b="1">
                          <a:solidFill>
                            <a:srgbClr val="FFFFFF"/>
                          </a:solidFill>
                          <a:latin typeface="DejaVu Sans"/>
                          <a:ea typeface="DejaVu Sans"/>
                          <a:cs typeface="DejaVu Sans"/>
                        </a:rPr>
                        <a:t>Participants</a:t>
                      </a:r>
                    </a:p>
                  </a:txBody>
                  <a:tcPr marL="133350" marR="133350" marT="114300" marB="114300">
                    <a:solidFill>
                      <a:srgbClr val="13283F"/>
                    </a:solidFill>
                  </a:tcPr>
                </a:tc>
                <a:tc>
                  <a:txBody>
                    <a:bodyPr/>
                    <a:lstStyle/>
                    <a:p>
                      <a:r>
                        <a:rPr sz="2025" b="1">
                          <a:solidFill>
                            <a:srgbClr val="FFFFFF"/>
                          </a:solidFill>
                          <a:latin typeface="DejaVu Sans"/>
                          <a:ea typeface="DejaVu Sans"/>
                          <a:cs typeface="DejaVu Sans"/>
                        </a:rPr>
                        <a:t>Scenarios</a:t>
                      </a:r>
                    </a:p>
                  </a:txBody>
                  <a:tcPr marL="133350" marR="133350" marT="114300" marB="114300">
                    <a:solidFill>
                      <a:srgbClr val="13283F"/>
                    </a:solidFill>
                  </a:tcPr>
                </a:tc>
              </a:tr>
              <a:tr h="821531">
                <a:tc>
                  <a:txBody>
                    <a:bodyPr/>
                    <a:lstStyle/>
                    <a:p>
                      <a:r>
                        <a:rPr sz="2025">
                          <a:solidFill>
                            <a:srgbClr val="243C50"/>
                          </a:solidFill>
                          <a:latin typeface="DejaVu Sans"/>
                          <a:ea typeface="DejaVu Sans"/>
                          <a:cs typeface="DejaVu Sans"/>
                        </a:rPr>
                        <a:t>Network</a:t>
                      </a:r>
                    </a:p>
                  </a:txBody>
                  <a:tcPr marL="133350" marR="133350" marT="114300" marB="114300">
                    <a:solidFill>
                      <a:srgbClr val="FFFFFF"/>
                    </a:solidFill>
                  </a:tcPr>
                </a:tc>
                <a:tc>
                  <a:txBody>
                    <a:bodyPr/>
                    <a:lstStyle/>
                    <a:p>
                      <a:r>
                        <a:rPr sz="2025">
                          <a:solidFill>
                            <a:srgbClr val="243C50"/>
                          </a:solidFill>
                          <a:latin typeface="DejaVu Sans"/>
                          <a:ea typeface="DejaVu Sans"/>
                          <a:cs typeface="DejaVu Sans"/>
                        </a:rPr>
                        <a:t>user01–user10</a:t>
                      </a:r>
                    </a:p>
                  </a:txBody>
                  <a:tcPr marL="133350" marR="133350" marT="114300" marB="114300">
                    <a:solidFill>
                      <a:srgbClr val="FFFFFF"/>
                    </a:solidFill>
                  </a:tcPr>
                </a:tc>
                <a:tc>
                  <a:txBody>
                    <a:bodyPr/>
                    <a:lstStyle/>
                    <a:p>
                      <a:r>
                        <a:rPr sz="2025">
                          <a:solidFill>
                            <a:srgbClr val="243C50"/>
                          </a:solidFill>
                          <a:latin typeface="DejaVu Sans"/>
                          <a:ea typeface="DejaVu Sans"/>
                          <a:cs typeface="DejaVu Sans"/>
                        </a:rPr>
                        <a:t>4 network changes</a:t>
                      </a:r>
                    </a:p>
                  </a:txBody>
                  <a:tcPr marL="133350" marR="133350" marT="114300" marB="114300">
                    <a:solidFill>
                      <a:srgbClr val="FFFFFF"/>
                    </a:solidFill>
                  </a:tcPr>
                </a:tc>
              </a:tr>
              <a:tr h="821531">
                <a:tc>
                  <a:txBody>
                    <a:bodyPr/>
                    <a:lstStyle/>
                    <a:p>
                      <a:r>
                        <a:rPr sz="2025">
                          <a:solidFill>
                            <a:srgbClr val="243C50"/>
                          </a:solidFill>
                          <a:latin typeface="DejaVu Sans"/>
                          <a:ea typeface="DejaVu Sans"/>
                          <a:cs typeface="DejaVu Sans"/>
                        </a:rPr>
                        <a:t>Identity</a:t>
                      </a:r>
                    </a:p>
                  </a:txBody>
                  <a:tcPr marL="133350" marR="133350" marT="114300" marB="114300">
                    <a:solidFill>
                      <a:srgbClr val="FFFFFF"/>
                    </a:solidFill>
                  </a:tcPr>
                </a:tc>
                <a:tc>
                  <a:txBody>
                    <a:bodyPr/>
                    <a:lstStyle/>
                    <a:p>
                      <a:r>
                        <a:rPr sz="2025">
                          <a:solidFill>
                            <a:srgbClr val="243C50"/>
                          </a:solidFill>
                          <a:latin typeface="DejaVu Sans"/>
                          <a:ea typeface="DejaVu Sans"/>
                          <a:cs typeface="DejaVu Sans"/>
                        </a:rPr>
                        <a:t>user01–user10</a:t>
                      </a:r>
                    </a:p>
                  </a:txBody>
                  <a:tcPr marL="133350" marR="133350" marT="114300" marB="114300">
                    <a:solidFill>
                      <a:srgbClr val="FFFFFF"/>
                    </a:solidFill>
                  </a:tcPr>
                </a:tc>
                <a:tc>
                  <a:txBody>
                    <a:bodyPr/>
                    <a:lstStyle/>
                    <a:p>
                      <a:r>
                        <a:rPr sz="2025">
                          <a:solidFill>
                            <a:srgbClr val="243C50"/>
                          </a:solidFill>
                          <a:latin typeface="DejaVu Sans"/>
                          <a:ea typeface="DejaVu Sans"/>
                          <a:cs typeface="DejaVu Sans"/>
                        </a:rPr>
                        <a:t>3 IAM changes</a:t>
                      </a:r>
                    </a:p>
                  </a:txBody>
                  <a:tcPr marL="133350" marR="133350" marT="114300" marB="114300">
                    <a:solidFill>
                      <a:srgbClr val="FFFFFF"/>
                    </a:solidFill>
                  </a:tcPr>
                </a:tc>
              </a:tr>
              <a:tr h="821531">
                <a:tc>
                  <a:txBody>
                    <a:bodyPr/>
                    <a:lstStyle/>
                    <a:p>
                      <a:r>
                        <a:rPr sz="2025">
                          <a:solidFill>
                            <a:srgbClr val="243C50"/>
                          </a:solidFill>
                          <a:latin typeface="DejaVu Sans"/>
                          <a:ea typeface="DejaVu Sans"/>
                          <a:cs typeface="DejaVu Sans"/>
                        </a:rPr>
                        <a:t>Storage</a:t>
                      </a:r>
                    </a:p>
                  </a:txBody>
                  <a:tcPr marL="133350" marR="133350" marT="114300" marB="114300">
                    <a:solidFill>
                      <a:srgbClr val="FFFFFF"/>
                    </a:solidFill>
                  </a:tcPr>
                </a:tc>
                <a:tc>
                  <a:txBody>
                    <a:bodyPr/>
                    <a:lstStyle/>
                    <a:p>
                      <a:r>
                        <a:rPr sz="2025">
                          <a:solidFill>
                            <a:srgbClr val="243C50"/>
                          </a:solidFill>
                          <a:latin typeface="DejaVu Sans"/>
                          <a:ea typeface="DejaVu Sans"/>
                          <a:cs typeface="DejaVu Sans"/>
                        </a:rPr>
                        <a:t>user01–user10</a:t>
                      </a:r>
                    </a:p>
                  </a:txBody>
                  <a:tcPr marL="133350" marR="133350" marT="114300" marB="114300">
                    <a:solidFill>
                      <a:srgbClr val="FFFFFF"/>
                    </a:solidFill>
                  </a:tcPr>
                </a:tc>
                <a:tc>
                  <a:txBody>
                    <a:bodyPr/>
                    <a:lstStyle/>
                    <a:p>
                      <a:r>
                        <a:rPr sz="2025">
                          <a:solidFill>
                            <a:srgbClr val="243C50"/>
                          </a:solidFill>
                          <a:latin typeface="DejaVu Sans"/>
                          <a:ea typeface="DejaVu Sans"/>
                          <a:cs typeface="DejaVu Sans"/>
                        </a:rPr>
                        <a:t>3 S3 / SQS changes</a:t>
                      </a:r>
                    </a:p>
                  </a:txBody>
                  <a:tcPr marL="133350" marR="133350" marT="114300" marB="11430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7FD7B09B-4FCF-411E-A6BF-7467AF6C4181}"/>
              </a:ext>
            </a:extLst>
          </p:cNvPr>
          <p:cNvSpPr>
            <a:spLocks xmlns:a="http://schemas.openxmlformats.org/drawingml/2006/main" noGrp="1"/>
          </p:cNvSpPr>
          <p:nvPr/>
        </p:nvSpPr>
        <p:spPr>
          <a:xfrm xmlns:a="http://schemas.openxmlformats.org/drawingml/2006/main">
            <a:off x="685800" y="56388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30 participants. 10 scenarios. Dedicated member accounts.</a:t>
            </a:r>
          </a:p>
        </p:txBody>
      </p:sp>
    </p:spTree>
    <p:extLst>
      <p:ext uri="{BB962C8B-B14F-4D97-AF65-F5344CB8AC3E}">
        <p14:creationId xmlns:p14="http://schemas.microsoft.com/office/powerpoint/2010/main" val="249905734"/>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6E991191-9203-49BF-A309-8060B1A7F32A}"/>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Event-driven remediation</a:t>
            </a:r>
          </a:p>
        </p:txBody>
      </p:sp>
      <p:sp>
        <p:nvSpPr>
          <p:cNvPr id="2" name="text-1">
            <a:extLst xmlns:a="http://schemas.openxmlformats.org/drawingml/2006/main">
              <a:ext uri="{FF2B5EF4-FFF2-40B4-BE49-F238E27FC236}">
                <a16:creationId xmlns:a16="http://schemas.microsoft.com/office/drawing/2014/main" id="{BB439578-1367-4829-A952-B9D27C0FD3A9}"/>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04</a:t>
            </a:r>
          </a:p>
        </p:txBody>
      </p:sp>
      <p:graphicFrame>
        <p:nvGraphicFramePr>
          <p:cNvPr id="7" name=""/>
          <p:cNvGraphicFramePr/>
          <p:nvPr/>
        </p:nvGraphicFramePr>
        <p:xfrm>
          <a:off xmlns:a="http://schemas.openxmlformats.org/drawingml/2006/main" x="685800" y="1762125"/>
          <a:ext xmlns:a="http://schemas.openxmlformats.org/drawingml/2006/main" cx="10820400" cy="3952875"/>
        </p:xfrm>
        <a:graphic xmlns:a="http://schemas.openxmlformats.org/drawingml/2006/main">
          <a:graphicData uri="http://schemas.openxmlformats.org/drawingml/2006/table">
            <a:tbl>
              <a:tblPr/>
              <a:tblGrid>
                <a:gridCol w="3333750"/>
                <a:gridCol w="7486650"/>
              </a:tblGrid>
              <a:tr h="658813">
                <a:tc>
                  <a:txBody>
                    <a:bodyPr/>
                    <a:lstStyle/>
                    <a:p>
                      <a:r>
                        <a:rPr sz="1875" b="1">
                          <a:solidFill>
                            <a:srgbClr val="FFFFFF"/>
                          </a:solidFill>
                          <a:latin typeface="DejaVu Sans"/>
                          <a:ea typeface="DejaVu Sans"/>
                          <a:cs typeface="DejaVu Sans"/>
                        </a:rPr>
                        <a:t>Stage</a:t>
                      </a:r>
                    </a:p>
                  </a:txBody>
                  <a:tcPr marL="133350" marR="133350" marT="114300" marB="114300">
                    <a:solidFill>
                      <a:srgbClr val="13283F"/>
                    </a:solidFill>
                  </a:tcPr>
                </a:tc>
                <a:tc>
                  <a:txBody>
                    <a:bodyPr/>
                    <a:lstStyle/>
                    <a:p>
                      <a:r>
                        <a:rPr sz="1875" b="1">
                          <a:solidFill>
                            <a:srgbClr val="FFFFFF"/>
                          </a:solidFill>
                          <a:latin typeface="DejaVu Sans"/>
                          <a:ea typeface="DejaVu Sans"/>
                          <a:cs typeface="DejaVu Sans"/>
                        </a:rPr>
                        <a:t>Responsibility</a:t>
                      </a:r>
                    </a:p>
                  </a:txBody>
                  <a:tcPr marL="133350" marR="133350" marT="114300" marB="114300">
                    <a:solidFill>
                      <a:srgbClr val="13283F"/>
                    </a:solidFill>
                  </a:tcPr>
                </a:tc>
              </a:tr>
              <a:tr h="658813">
                <a:tc>
                  <a:txBody>
                    <a:bodyPr/>
                    <a:lstStyle/>
                    <a:p>
                      <a:r>
                        <a:rPr sz="1875">
                          <a:solidFill>
                            <a:srgbClr val="243C50"/>
                          </a:solidFill>
                          <a:latin typeface="DejaVu Sans"/>
                          <a:ea typeface="DejaVu Sans"/>
                          <a:cs typeface="DejaVu Sans"/>
                        </a:rPr>
                        <a:t>1  AWS API change</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Student introduces a misconfiguration.</a:t>
                      </a:r>
                    </a:p>
                  </a:txBody>
                  <a:tcPr marL="133350" marR="133350" marT="114300" marB="114300">
                    <a:solidFill>
                      <a:srgbClr val="FFFFFF"/>
                    </a:solidFill>
                  </a:tcPr>
                </a:tc>
              </a:tr>
              <a:tr h="658813">
                <a:tc>
                  <a:txBody>
                    <a:bodyPr/>
                    <a:lstStyle/>
                    <a:p>
                      <a:r>
                        <a:rPr sz="1875">
                          <a:solidFill>
                            <a:srgbClr val="243C50"/>
                          </a:solidFill>
                          <a:latin typeface="DejaVu Sans"/>
                          <a:ea typeface="DejaVu Sans"/>
                          <a:cs typeface="DejaVu Sans"/>
                        </a:rPr>
                        <a:t>2  CloudTrail</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Records the API call and caller identity.</a:t>
                      </a:r>
                    </a:p>
                  </a:txBody>
                  <a:tcPr marL="133350" marR="133350" marT="114300" marB="114300">
                    <a:solidFill>
                      <a:srgbClr val="FFFFFF"/>
                    </a:solidFill>
                  </a:tcPr>
                </a:tc>
              </a:tr>
              <a:tr h="658813">
                <a:tc>
                  <a:txBody>
                    <a:bodyPr/>
                    <a:lstStyle/>
                    <a:p>
                      <a:r>
                        <a:rPr sz="1875">
                          <a:solidFill>
                            <a:srgbClr val="243C50"/>
                          </a:solidFill>
                          <a:latin typeface="DejaVu Sans"/>
                          <a:ea typeface="DejaVu Sans"/>
                          <a:cs typeface="DejaVu Sans"/>
                        </a:rPr>
                        <a:t>3  EventBridge</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Matches the event and invokes the function.</a:t>
                      </a:r>
                    </a:p>
                  </a:txBody>
                  <a:tcPr marL="133350" marR="133350" marT="114300" marB="114300">
                    <a:solidFill>
                      <a:srgbClr val="FFFFFF"/>
                    </a:solidFill>
                  </a:tcPr>
                </a:tc>
              </a:tr>
              <a:tr h="658813">
                <a:tc>
                  <a:txBody>
                    <a:bodyPr/>
                    <a:lstStyle/>
                    <a:p>
                      <a:r>
                        <a:rPr sz="1875">
                          <a:solidFill>
                            <a:srgbClr val="243C50"/>
                          </a:solidFill>
                          <a:latin typeface="DejaVu Sans"/>
                          <a:ea typeface="DejaVu Sans"/>
                          <a:cs typeface="DejaVu Sans"/>
                        </a:rPr>
                        <a:t>4  Python in Lambda</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Checks current state and applies a scoped repair.</a:t>
                      </a:r>
                    </a:p>
                  </a:txBody>
                  <a:tcPr marL="133350" marR="133350" marT="114300" marB="114300">
                    <a:solidFill>
                      <a:srgbClr val="FFFFFF"/>
                    </a:solidFill>
                  </a:tcPr>
                </a:tc>
              </a:tr>
              <a:tr h="658813">
                <a:tc>
                  <a:txBody>
                    <a:bodyPr/>
                    <a:lstStyle/>
                    <a:p>
                      <a:r>
                        <a:rPr sz="1875">
                          <a:solidFill>
                            <a:srgbClr val="243C50"/>
                          </a:solidFill>
                          <a:latin typeface="DejaVu Sans"/>
                          <a:ea typeface="DejaVu Sans"/>
                          <a:cs typeface="DejaVu Sans"/>
                        </a:rPr>
                        <a:t>5  Verification</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Confirms the result and records evidence.</a:t>
                      </a:r>
                    </a:p>
                  </a:txBody>
                  <a:tcPr marL="133350" marR="133350" marT="114300" marB="11430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1E4A2998-DE38-4951-9337-5F7BE48102BC}"/>
              </a:ext>
            </a:extLst>
          </p:cNvPr>
          <p:cNvSpPr>
            <a:spLocks xmlns:a="http://schemas.openxmlformats.org/drawingml/2006/main" noGrp="1"/>
          </p:cNvSpPr>
          <p:nvPr/>
        </p:nvSpPr>
        <p:spPr>
          <a:xfrm xmlns:a="http://schemas.openxmlformats.org/drawingml/2006/main">
            <a:off x="685800" y="5905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Reactive repair leaves a temporary exposure window.</a:t>
            </a:r>
          </a:p>
        </p:txBody>
      </p:sp>
    </p:spTree>
    <p:extLst>
      <p:ext uri="{BB962C8B-B14F-4D97-AF65-F5344CB8AC3E}">
        <p14:creationId xmlns:p14="http://schemas.microsoft.com/office/powerpoint/2010/main" val="1118918153"/>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72B78A4D-5D1E-4336-AF55-00AD4A8248F4}"/>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Permission guardrails</a:t>
            </a:r>
          </a:p>
        </p:txBody>
      </p:sp>
      <p:sp>
        <p:nvSpPr>
          <p:cNvPr id="2" name="text-1">
            <a:extLst xmlns:a="http://schemas.openxmlformats.org/drawingml/2006/main">
              <a:ext uri="{FF2B5EF4-FFF2-40B4-BE49-F238E27FC236}">
                <a16:creationId xmlns:a16="http://schemas.microsoft.com/office/drawing/2014/main" id="{94F925E7-2E97-43C3-99B3-AB0A97E99551}"/>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05</a:t>
            </a:r>
          </a:p>
        </p:txBody>
      </p:sp>
      <p:graphicFrame>
        <p:nvGraphicFramePr>
          <p:cNvPr id="7" name=""/>
          <p:cNvGraphicFramePr/>
          <p:nvPr/>
        </p:nvGraphicFramePr>
        <p:xfrm>
          <a:off xmlns:a="http://schemas.openxmlformats.org/drawingml/2006/main" x="685800" y="1762125"/>
          <a:ext xmlns:a="http://schemas.openxmlformats.org/drawingml/2006/main" cx="10820400" cy="3762375"/>
        </p:xfrm>
        <a:graphic xmlns:a="http://schemas.openxmlformats.org/drawingml/2006/main">
          <a:graphicData uri="http://schemas.openxmlformats.org/drawingml/2006/table">
            <a:tbl>
              <a:tblPr/>
              <a:tblGrid>
                <a:gridCol w="3905250"/>
                <a:gridCol w="6915150"/>
              </a:tblGrid>
              <a:tr h="752475">
                <a:tc>
                  <a:txBody>
                    <a:bodyPr/>
                    <a:lstStyle/>
                    <a:p>
                      <a:r>
                        <a:rPr sz="1875" b="1">
                          <a:solidFill>
                            <a:srgbClr val="FFFFFF"/>
                          </a:solidFill>
                          <a:latin typeface="DejaVu Sans"/>
                          <a:ea typeface="DejaVu Sans"/>
                          <a:cs typeface="DejaVu Sans"/>
                        </a:rPr>
                        <a:t>Control</a:t>
                      </a:r>
                    </a:p>
                  </a:txBody>
                  <a:tcPr marL="133350" marR="133350" marT="114300" marB="114300">
                    <a:solidFill>
                      <a:srgbClr val="13283F"/>
                    </a:solidFill>
                  </a:tcPr>
                </a:tc>
                <a:tc>
                  <a:txBody>
                    <a:bodyPr/>
                    <a:lstStyle/>
                    <a:p>
                      <a:r>
                        <a:rPr sz="1875" b="1">
                          <a:solidFill>
                            <a:srgbClr val="FFFFFF"/>
                          </a:solidFill>
                          <a:latin typeface="DejaVu Sans"/>
                          <a:ea typeface="DejaVu Sans"/>
                          <a:cs typeface="DejaVu Sans"/>
                        </a:rPr>
                        <a:t>Purpose in this lab</a:t>
                      </a:r>
                    </a:p>
                  </a:txBody>
                  <a:tcPr marL="133350" marR="133350" marT="114300" marB="114300">
                    <a:solidFill>
                      <a:srgbClr val="13283F"/>
                    </a:solidFill>
                  </a:tcPr>
                </a:tc>
              </a:tr>
              <a:tr h="752475">
                <a:tc>
                  <a:txBody>
                    <a:bodyPr/>
                    <a:lstStyle/>
                    <a:p>
                      <a:r>
                        <a:rPr sz="1875">
                          <a:solidFill>
                            <a:srgbClr val="243C50"/>
                          </a:solidFill>
                          <a:latin typeface="DejaVu Sans"/>
                          <a:ea typeface="DejaVu Sans"/>
                          <a:cs typeface="DejaVu Sans"/>
                        </a:rPr>
                        <a:t>IAM access policy</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Allows the assigned exercise and repair actions.</a:t>
                      </a:r>
                    </a:p>
                  </a:txBody>
                  <a:tcPr marL="133350" marR="133350" marT="114300" marB="114300">
                    <a:solidFill>
                      <a:srgbClr val="FFFFFF"/>
                    </a:solidFill>
                  </a:tcPr>
                </a:tc>
              </a:tr>
              <a:tr h="752475">
                <a:tc>
                  <a:txBody>
                    <a:bodyPr/>
                    <a:lstStyle/>
                    <a:p>
                      <a:r>
                        <a:rPr sz="1875">
                          <a:solidFill>
                            <a:srgbClr val="243C50"/>
                          </a:solidFill>
                          <a:latin typeface="DejaVu Sans"/>
                          <a:ea typeface="DejaVu Sans"/>
                          <a:cs typeface="DejaVu Sans"/>
                        </a:rPr>
                        <a:t>Permissions boundary</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Limits actions, resources and service conditions.</a:t>
                      </a:r>
                    </a:p>
                  </a:txBody>
                  <a:tcPr marL="133350" marR="133350" marT="114300" marB="114300">
                    <a:solidFill>
                      <a:srgbClr val="FFFFFF"/>
                    </a:solidFill>
                  </a:tcPr>
                </a:tc>
              </a:tr>
              <a:tr h="752475">
                <a:tc>
                  <a:txBody>
                    <a:bodyPr/>
                    <a:lstStyle/>
                    <a:p>
                      <a:r>
                        <a:rPr sz="1875">
                          <a:solidFill>
                            <a:srgbClr val="243C50"/>
                          </a:solidFill>
                          <a:latin typeface="DejaVu Sans"/>
                          <a:ea typeface="DejaVu Sans"/>
                          <a:cs typeface="DejaVu Sans"/>
                        </a:rPr>
                        <a:t>Two SCPs on the Workshop OU</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Protect audit, IAM boundaries and ownership tags.</a:t>
                      </a:r>
                    </a:p>
                  </a:txBody>
                  <a:tcPr marL="133350" marR="133350" marT="114300" marB="114300">
                    <a:solidFill>
                      <a:srgbClr val="FFFFFF"/>
                    </a:solidFill>
                  </a:tcPr>
                </a:tc>
              </a:tr>
              <a:tr h="752475">
                <a:tc>
                  <a:txBody>
                    <a:bodyPr/>
                    <a:lstStyle/>
                    <a:p>
                      <a:r>
                        <a:rPr sz="1875">
                          <a:solidFill>
                            <a:srgbClr val="243C50"/>
                          </a:solidFill>
                          <a:latin typeface="DejaVu Sans"/>
                          <a:ea typeface="DejaVu Sans"/>
                          <a:cs typeface="DejaVu Sans"/>
                        </a:rPr>
                        <a:t>Workshop + Owner tags</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Separate student resources inside shared accounts.</a:t>
                      </a:r>
                    </a:p>
                  </a:txBody>
                  <a:tcPr marL="133350" marR="133350" marT="114300" marB="11430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C2CCC36A-B6BB-4D21-B86B-DCD3EA244ACD}"/>
              </a:ext>
            </a:extLst>
          </p:cNvPr>
          <p:cNvSpPr>
            <a:spLocks xmlns:a="http://schemas.openxmlformats.org/drawingml/2006/main" noGrp="1"/>
          </p:cNvSpPr>
          <p:nvPr/>
        </p:nvSpPr>
        <p:spPr>
          <a:xfrm xmlns:a="http://schemas.openxmlformats.org/drawingml/2006/main">
            <a:off x="685800" y="58578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Students can create resources within their assigned scope.</a:t>
            </a:r>
          </a:p>
        </p:txBody>
      </p:sp>
    </p:spTree>
    <p:extLst>
      <p:ext uri="{BB962C8B-B14F-4D97-AF65-F5344CB8AC3E}">
        <p14:creationId xmlns:p14="http://schemas.microsoft.com/office/powerpoint/2010/main" val="1731540565"/>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E65AFCB-1ECD-46B4-B348-9FC238E588EF}"/>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Student setup</a:t>
            </a:r>
          </a:p>
        </p:txBody>
      </p:sp>
      <p:sp>
        <p:nvSpPr>
          <p:cNvPr id="2" name="text-1">
            <a:extLst xmlns:a="http://schemas.openxmlformats.org/drawingml/2006/main">
              <a:ext uri="{FF2B5EF4-FFF2-40B4-BE49-F238E27FC236}">
                <a16:creationId xmlns:a16="http://schemas.microsoft.com/office/drawing/2014/main" id="{E8177089-0F4D-46AD-8626-5120CBBC06A6}"/>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06</a:t>
            </a:r>
          </a:p>
        </p:txBody>
      </p:sp>
      <p:graphicFrame>
        <p:nvGraphicFramePr>
          <p:cNvPr id="7" name=""/>
          <p:cNvGraphicFramePr/>
          <p:nvPr/>
        </p:nvGraphicFramePr>
        <p:xfrm>
          <a:off xmlns:a="http://schemas.openxmlformats.org/drawingml/2006/main" x="685800" y="1762125"/>
          <a:ext xmlns:a="http://schemas.openxmlformats.org/drawingml/2006/main" cx="10820400" cy="3429000"/>
        </p:xfrm>
        <a:graphic xmlns:a="http://schemas.openxmlformats.org/drawingml/2006/main">
          <a:graphicData uri="http://schemas.openxmlformats.org/drawingml/2006/table">
            <a:tbl>
              <a:tblPr/>
              <a:tblGrid>
                <a:gridCol w="4333875"/>
                <a:gridCol w="6486525"/>
              </a:tblGrid>
              <a:tr h="685800">
                <a:tc>
                  <a:txBody>
                    <a:bodyPr/>
                    <a:lstStyle/>
                    <a:p>
                      <a:r>
                        <a:rPr sz="1950" b="1">
                          <a:solidFill>
                            <a:srgbClr val="FFFFFF"/>
                          </a:solidFill>
                          <a:latin typeface="DejaVu Sans"/>
                          <a:ea typeface="DejaVu Sans"/>
                          <a:cs typeface="DejaVu Sans"/>
                        </a:rPr>
                        <a:t>Resource</a:t>
                      </a:r>
                    </a:p>
                  </a:txBody>
                  <a:tcPr marL="133350" marR="133350" marT="114300" marB="114300">
                    <a:solidFill>
                      <a:srgbClr val="13283F"/>
                    </a:solidFill>
                  </a:tcPr>
                </a:tc>
                <a:tc>
                  <a:txBody>
                    <a:bodyPr/>
                    <a:lstStyle/>
                    <a:p>
                      <a:r>
                        <a:rPr sz="1950" b="1">
                          <a:solidFill>
                            <a:srgbClr val="FFFFFF"/>
                          </a:solidFill>
                          <a:latin typeface="DejaVu Sans"/>
                          <a:ea typeface="DejaVu Sans"/>
                          <a:cs typeface="DejaVu Sans"/>
                        </a:rPr>
                        <a:t>Assigned name for user01</a:t>
                      </a:r>
                    </a:p>
                  </a:txBody>
                  <a:tcPr marL="133350" marR="133350" marT="114300" marB="114300">
                    <a:solidFill>
                      <a:srgbClr val="13283F"/>
                    </a:solidFill>
                  </a:tcPr>
                </a:tc>
              </a:tr>
              <a:tr h="685800">
                <a:tc>
                  <a:txBody>
                    <a:bodyPr/>
                    <a:lstStyle/>
                    <a:p>
                      <a:r>
                        <a:rPr sz="1950">
                          <a:solidFill>
                            <a:srgbClr val="243C50"/>
                          </a:solidFill>
                          <a:latin typeface="DejaVu Sans"/>
                          <a:ea typeface="DejaVu Sans"/>
                          <a:cs typeface="DejaVu Sans"/>
                        </a:rPr>
                        <a:t>Python Lambda</a:t>
                      </a:r>
                    </a:p>
                  </a:txBody>
                  <a:tcPr marL="133350" marR="133350" marT="114300" marB="114300">
                    <a:solidFill>
                      <a:srgbClr val="FFFFFF"/>
                    </a:solidFill>
                  </a:tcPr>
                </a:tc>
                <a:tc>
                  <a:txBody>
                    <a:bodyPr/>
                    <a:lstStyle/>
                    <a:p>
                      <a:r>
                        <a:rPr sz="1950">
                          <a:solidFill>
                            <a:srgbClr val="243C50"/>
                          </a:solidFill>
                          <a:latin typeface="DejaVu Sans"/>
                          <a:ea typeface="DejaVu Sans"/>
                          <a:cs typeface="DejaVu Sans"/>
                        </a:rPr>
                        <a:t>user01-Remediator</a:t>
                      </a:r>
                    </a:p>
                  </a:txBody>
                  <a:tcPr marL="133350" marR="133350" marT="114300" marB="114300">
                    <a:solidFill>
                      <a:srgbClr val="FFFFFF"/>
                    </a:solidFill>
                  </a:tcPr>
                </a:tc>
              </a:tr>
              <a:tr h="685800">
                <a:tc>
                  <a:txBody>
                    <a:bodyPr/>
                    <a:lstStyle/>
                    <a:p>
                      <a:r>
                        <a:rPr sz="1950">
                          <a:solidFill>
                            <a:srgbClr val="243C50"/>
                          </a:solidFill>
                          <a:latin typeface="DejaVu Sans"/>
                          <a:ea typeface="DejaVu Sans"/>
                          <a:cs typeface="DejaVu Sans"/>
                        </a:rPr>
                        <a:t>Lambda execution role</a:t>
                      </a:r>
                    </a:p>
                  </a:txBody>
                  <a:tcPr marL="133350" marR="133350" marT="114300" marB="114300">
                    <a:solidFill>
                      <a:srgbClr val="FFFFFF"/>
                    </a:solidFill>
                  </a:tcPr>
                </a:tc>
                <a:tc>
                  <a:txBody>
                    <a:bodyPr/>
                    <a:lstStyle/>
                    <a:p>
                      <a:r>
                        <a:rPr sz="1950">
                          <a:solidFill>
                            <a:srgbClr val="243C50"/>
                          </a:solidFill>
                          <a:latin typeface="DejaVu Sans"/>
                          <a:ea typeface="DejaVu Sans"/>
                          <a:cs typeface="DejaVu Sans"/>
                        </a:rPr>
                        <a:t>user01-LambdaRole</a:t>
                      </a:r>
                    </a:p>
                  </a:txBody>
                  <a:tcPr marL="133350" marR="133350" marT="114300" marB="114300">
                    <a:solidFill>
                      <a:srgbClr val="FFFFFF"/>
                    </a:solidFill>
                  </a:tcPr>
                </a:tc>
              </a:tr>
              <a:tr h="685800">
                <a:tc>
                  <a:txBody>
                    <a:bodyPr/>
                    <a:lstStyle/>
                    <a:p>
                      <a:r>
                        <a:rPr sz="1950">
                          <a:solidFill>
                            <a:srgbClr val="243C50"/>
                          </a:solidFill>
                          <a:latin typeface="DejaVu Sans"/>
                          <a:ea typeface="DejaVu Sans"/>
                          <a:cs typeface="DejaVu Sans"/>
                        </a:rPr>
                        <a:t>EventBridge rules</a:t>
                      </a:r>
                    </a:p>
                  </a:txBody>
                  <a:tcPr marL="133350" marR="133350" marT="114300" marB="114300">
                    <a:solidFill>
                      <a:srgbClr val="FFFFFF"/>
                    </a:solidFill>
                  </a:tcPr>
                </a:tc>
                <a:tc>
                  <a:txBody>
                    <a:bodyPr/>
                    <a:lstStyle/>
                    <a:p>
                      <a:r>
                        <a:rPr sz="1950">
                          <a:solidFill>
                            <a:srgbClr val="243C50"/>
                          </a:solidFill>
                          <a:latin typeface="DejaVu Sans"/>
                          <a:ea typeface="DejaVu Sans"/>
                          <a:cs typeface="DejaVu Sans"/>
                        </a:rPr>
                        <a:t>user01-*</a:t>
                      </a:r>
                    </a:p>
                  </a:txBody>
                  <a:tcPr marL="133350" marR="133350" marT="114300" marB="114300">
                    <a:solidFill>
                      <a:srgbClr val="FFFFFF"/>
                    </a:solidFill>
                  </a:tcPr>
                </a:tc>
              </a:tr>
              <a:tr h="685800">
                <a:tc>
                  <a:txBody>
                    <a:bodyPr/>
                    <a:lstStyle/>
                    <a:p>
                      <a:r>
                        <a:rPr sz="1950">
                          <a:solidFill>
                            <a:srgbClr val="243C50"/>
                          </a:solidFill>
                          <a:latin typeface="DejaVu Sans"/>
                          <a:ea typeface="DejaVu Sans"/>
                          <a:cs typeface="DejaVu Sans"/>
                        </a:rPr>
                        <a:t>EventBridge invocation role</a:t>
                      </a:r>
                    </a:p>
                  </a:txBody>
                  <a:tcPr marL="133350" marR="133350" marT="114300" marB="114300">
                    <a:solidFill>
                      <a:srgbClr val="FFFFFF"/>
                    </a:solidFill>
                  </a:tcPr>
                </a:tc>
                <a:tc>
                  <a:txBody>
                    <a:bodyPr/>
                    <a:lstStyle/>
                    <a:p>
                      <a:r>
                        <a:rPr sz="1950">
                          <a:solidFill>
                            <a:srgbClr val="243C50"/>
                          </a:solidFill>
                          <a:latin typeface="DejaVu Sans"/>
                          <a:ea typeface="DejaVu Sans"/>
                          <a:cs typeface="DejaVu Sans"/>
                        </a:rPr>
                        <a:t>user01-EventRole</a:t>
                      </a:r>
                    </a:p>
                  </a:txBody>
                  <a:tcPr marL="133350" marR="133350" marT="114300" marB="11430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9F60F8B5-11D5-4B11-BF6C-B160D04F8A16}"/>
              </a:ext>
            </a:extLst>
          </p:cNvPr>
          <p:cNvSpPr>
            <a:spLocks xmlns:a="http://schemas.openxmlformats.org/drawingml/2006/main" noGrp="1"/>
          </p:cNvSpPr>
          <p:nvPr/>
        </p:nvSpPr>
        <p:spPr>
          <a:xfrm xmlns:a="http://schemas.openxmlformats.org/drawingml/2006/main">
            <a:off x="685800" y="56388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Creation tags: Workshop=true and Owner=user01</a:t>
            </a:r>
          </a:p>
        </p:txBody>
      </p:sp>
    </p:spTree>
    <p:extLst>
      <p:ext uri="{BB962C8B-B14F-4D97-AF65-F5344CB8AC3E}">
        <p14:creationId xmlns:p14="http://schemas.microsoft.com/office/powerpoint/2010/main" val="296139880"/>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7E403DED-8B90-4EF3-AC9F-BB0D8F64FFFF}"/>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Network scenarios 1–4</a:t>
            </a:r>
          </a:p>
        </p:txBody>
      </p:sp>
      <p:sp>
        <p:nvSpPr>
          <p:cNvPr id="2" name="text-1">
            <a:extLst xmlns:a="http://schemas.openxmlformats.org/drawingml/2006/main">
              <a:ext uri="{FF2B5EF4-FFF2-40B4-BE49-F238E27FC236}">
                <a16:creationId xmlns:a16="http://schemas.microsoft.com/office/drawing/2014/main" id="{88E13EBC-3946-444D-96A3-B365FB21ABE3}"/>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07</a:t>
            </a:r>
          </a:p>
        </p:txBody>
      </p:sp>
      <p:graphicFrame>
        <p:nvGraphicFramePr>
          <p:cNvPr id="7" name=""/>
          <p:cNvGraphicFramePr/>
          <p:nvPr/>
        </p:nvGraphicFramePr>
        <p:xfrm>
          <a:off xmlns:a="http://schemas.openxmlformats.org/drawingml/2006/main" x="685800" y="1762125"/>
          <a:ext xmlns:a="http://schemas.openxmlformats.org/drawingml/2006/main" cx="10820400" cy="3667125"/>
        </p:xfrm>
        <a:graphic xmlns:a="http://schemas.openxmlformats.org/drawingml/2006/main">
          <a:graphicData uri="http://schemas.openxmlformats.org/drawingml/2006/table">
            <a:tbl>
              <a:tblPr/>
              <a:tblGrid>
                <a:gridCol w="3238500"/>
                <a:gridCol w="4095750"/>
                <a:gridCol w="3486150"/>
              </a:tblGrid>
              <a:tr h="733425">
                <a:tc>
                  <a:txBody>
                    <a:bodyPr/>
                    <a:lstStyle/>
                    <a:p>
                      <a:r>
                        <a:rPr sz="1800" b="1">
                          <a:solidFill>
                            <a:srgbClr val="FFFFFF"/>
                          </a:solidFill>
                          <a:latin typeface="DejaVu Sans"/>
                          <a:ea typeface="DejaVu Sans"/>
                          <a:cs typeface="DejaVu Sans"/>
                        </a:rPr>
                        <a:t>Change</a:t>
                      </a:r>
                    </a:p>
                  </a:txBody>
                  <a:tcPr marL="133350" marR="133350" marT="114300" marB="114300">
                    <a:solidFill>
                      <a:srgbClr val="13283F"/>
                    </a:solidFill>
                  </a:tcPr>
                </a:tc>
                <a:tc>
                  <a:txBody>
                    <a:bodyPr/>
                    <a:lstStyle/>
                    <a:p>
                      <a:r>
                        <a:rPr sz="1800" b="1">
                          <a:solidFill>
                            <a:srgbClr val="FFFFFF"/>
                          </a:solidFill>
                          <a:latin typeface="DejaVu Sans"/>
                          <a:ea typeface="DejaVu Sans"/>
                          <a:cs typeface="DejaVu Sans"/>
                        </a:rPr>
                        <a:t>API event</a:t>
                      </a:r>
                    </a:p>
                  </a:txBody>
                  <a:tcPr marL="133350" marR="133350" marT="114300" marB="114300">
                    <a:solidFill>
                      <a:srgbClr val="13283F"/>
                    </a:solidFill>
                  </a:tcPr>
                </a:tc>
                <a:tc>
                  <a:txBody>
                    <a:bodyPr/>
                    <a:lstStyle/>
                    <a:p>
                      <a:r>
                        <a:rPr sz="1800" b="1">
                          <a:solidFill>
                            <a:srgbClr val="FFFFFF"/>
                          </a:solidFill>
                          <a:latin typeface="DejaVu Sans"/>
                          <a:ea typeface="DejaVu Sans"/>
                          <a:cs typeface="DejaVu Sans"/>
                        </a:rPr>
                        <a:t>Python repair</a:t>
                      </a:r>
                    </a:p>
                  </a:txBody>
                  <a:tcPr marL="133350" marR="133350" marT="114300" marB="114300">
                    <a:solidFill>
                      <a:srgbClr val="13283F"/>
                    </a:solidFill>
                  </a:tcPr>
                </a:tc>
              </a:tr>
              <a:tr h="733425">
                <a:tc>
                  <a:txBody>
                    <a:bodyPr/>
                    <a:lstStyle/>
                    <a:p>
                      <a:r>
                        <a:rPr sz="1800">
                          <a:solidFill>
                            <a:srgbClr val="243C50"/>
                          </a:solidFill>
                          <a:latin typeface="DejaVu Sans"/>
                          <a:ea typeface="DejaVu Sans"/>
                          <a:cs typeface="DejaVu Sans"/>
                        </a:rPr>
                        <a:t>Public SSH on port 22</a:t>
                      </a:r>
                    </a:p>
                  </a:txBody>
                  <a:tcPr marL="133350" marR="133350" marT="114300" marB="114300">
                    <a:solidFill>
                      <a:srgbClr val="FFFFFF"/>
                    </a:solidFill>
                  </a:tcPr>
                </a:tc>
                <a:tc>
                  <a:txBody>
                    <a:bodyPr/>
                    <a:lstStyle/>
                    <a:p>
                      <a:r>
                        <a:rPr sz="1800">
                          <a:solidFill>
                            <a:srgbClr val="243C50"/>
                          </a:solidFill>
                          <a:latin typeface="DejaVu Sans"/>
                          <a:ea typeface="DejaVu Sans"/>
                          <a:cs typeface="DejaVu Sans"/>
                        </a:rPr>
                        <a:t>AuthorizeSecurityGroupIngress</a:t>
                      </a:r>
                    </a:p>
                  </a:txBody>
                  <a:tcPr marL="133350" marR="133350" marT="114300" marB="114300">
                    <a:solidFill>
                      <a:srgbClr val="FFFFFF"/>
                    </a:solidFill>
                  </a:tcPr>
                </a:tc>
                <a:tc>
                  <a:txBody>
                    <a:bodyPr/>
                    <a:lstStyle/>
                    <a:p>
                      <a:r>
                        <a:rPr sz="1800">
                          <a:solidFill>
                            <a:srgbClr val="243C50"/>
                          </a:solidFill>
                          <a:latin typeface="DejaVu Sans"/>
                          <a:ea typeface="DejaVu Sans"/>
                          <a:cs typeface="DejaVu Sans"/>
                        </a:rPr>
                        <a:t>Revoke public ingress.</a:t>
                      </a:r>
                    </a:p>
                  </a:txBody>
                  <a:tcPr marL="133350" marR="133350" marT="114300" marB="114300">
                    <a:solidFill>
                      <a:srgbClr val="FFFFFF"/>
                    </a:solidFill>
                  </a:tcPr>
                </a:tc>
              </a:tr>
              <a:tr h="733425">
                <a:tc>
                  <a:txBody>
                    <a:bodyPr/>
                    <a:lstStyle/>
                    <a:p>
                      <a:r>
                        <a:rPr sz="1800">
                          <a:solidFill>
                            <a:srgbClr val="243C50"/>
                          </a:solidFill>
                          <a:latin typeface="DejaVu Sans"/>
                          <a:ea typeface="DejaVu Sans"/>
                          <a:cs typeface="DejaVu Sans"/>
                        </a:rPr>
                        <a:t>Public RDP on port 3389</a:t>
                      </a:r>
                    </a:p>
                  </a:txBody>
                  <a:tcPr marL="133350" marR="133350" marT="114300" marB="114300">
                    <a:solidFill>
                      <a:srgbClr val="FFFFFF"/>
                    </a:solidFill>
                  </a:tcPr>
                </a:tc>
                <a:tc>
                  <a:txBody>
                    <a:bodyPr/>
                    <a:lstStyle/>
                    <a:p>
                      <a:r>
                        <a:rPr sz="1800">
                          <a:solidFill>
                            <a:srgbClr val="243C50"/>
                          </a:solidFill>
                          <a:latin typeface="DejaVu Sans"/>
                          <a:ea typeface="DejaVu Sans"/>
                          <a:cs typeface="DejaVu Sans"/>
                        </a:rPr>
                        <a:t>AuthorizeSecurityGroupIngress</a:t>
                      </a:r>
                    </a:p>
                  </a:txBody>
                  <a:tcPr marL="133350" marR="133350" marT="114300" marB="114300">
                    <a:solidFill>
                      <a:srgbClr val="FFFFFF"/>
                    </a:solidFill>
                  </a:tcPr>
                </a:tc>
                <a:tc>
                  <a:txBody>
                    <a:bodyPr/>
                    <a:lstStyle/>
                    <a:p>
                      <a:r>
                        <a:rPr sz="1800">
                          <a:solidFill>
                            <a:srgbClr val="243C50"/>
                          </a:solidFill>
                          <a:latin typeface="DejaVu Sans"/>
                          <a:ea typeface="DejaVu Sans"/>
                          <a:cs typeface="DejaVu Sans"/>
                        </a:rPr>
                        <a:t>Revoke public ingress.</a:t>
                      </a:r>
                    </a:p>
                  </a:txBody>
                  <a:tcPr marL="133350" marR="133350" marT="114300" marB="114300">
                    <a:solidFill>
                      <a:srgbClr val="FFFFFF"/>
                    </a:solidFill>
                  </a:tcPr>
                </a:tc>
              </a:tr>
              <a:tr h="733425">
                <a:tc>
                  <a:txBody>
                    <a:bodyPr/>
                    <a:lstStyle/>
                    <a:p>
                      <a:r>
                        <a:rPr sz="1800">
                          <a:solidFill>
                            <a:srgbClr val="243C50"/>
                          </a:solidFill>
                          <a:latin typeface="DejaVu Sans"/>
                          <a:ea typeface="DejaVu Sans"/>
                          <a:cs typeface="DejaVu Sans"/>
                        </a:rPr>
                        <a:t>Public ingress, all protocols</a:t>
                      </a:r>
                    </a:p>
                  </a:txBody>
                  <a:tcPr marL="133350" marR="133350" marT="114300" marB="114300">
                    <a:solidFill>
                      <a:srgbClr val="FFFFFF"/>
                    </a:solidFill>
                  </a:tcPr>
                </a:tc>
                <a:tc>
                  <a:txBody>
                    <a:bodyPr/>
                    <a:lstStyle/>
                    <a:p>
                      <a:r>
                        <a:rPr sz="1800">
                          <a:solidFill>
                            <a:srgbClr val="243C50"/>
                          </a:solidFill>
                          <a:latin typeface="DejaVu Sans"/>
                          <a:ea typeface="DejaVu Sans"/>
                          <a:cs typeface="DejaVu Sans"/>
                        </a:rPr>
                        <a:t>AuthorizeSecurityGroupIngress</a:t>
                      </a:r>
                    </a:p>
                  </a:txBody>
                  <a:tcPr marL="133350" marR="133350" marT="114300" marB="114300">
                    <a:solidFill>
                      <a:srgbClr val="FFFFFF"/>
                    </a:solidFill>
                  </a:tcPr>
                </a:tc>
                <a:tc>
                  <a:txBody>
                    <a:bodyPr/>
                    <a:lstStyle/>
                    <a:p>
                      <a:r>
                        <a:rPr sz="1800">
                          <a:solidFill>
                            <a:srgbClr val="243C50"/>
                          </a:solidFill>
                          <a:latin typeface="DejaVu Sans"/>
                          <a:ea typeface="DejaVu Sans"/>
                          <a:cs typeface="DejaVu Sans"/>
                        </a:rPr>
                        <a:t>Revoke the all-protocol rule.</a:t>
                      </a:r>
                    </a:p>
                  </a:txBody>
                  <a:tcPr marL="133350" marR="133350" marT="114300" marB="114300">
                    <a:solidFill>
                      <a:srgbClr val="FFFFFF"/>
                    </a:solidFill>
                  </a:tcPr>
                </a:tc>
              </a:tr>
              <a:tr h="733425">
                <a:tc>
                  <a:txBody>
                    <a:bodyPr/>
                    <a:lstStyle/>
                    <a:p>
                      <a:r>
                        <a:rPr sz="1800">
                          <a:solidFill>
                            <a:srgbClr val="243C50"/>
                          </a:solidFill>
                          <a:latin typeface="DejaVu Sans"/>
                          <a:ea typeface="DejaVu Sans"/>
                          <a:cs typeface="DejaVu Sans"/>
                        </a:rPr>
                        <a:t>Auto-assign public IPv4</a:t>
                      </a:r>
                    </a:p>
                  </a:txBody>
                  <a:tcPr marL="133350" marR="133350" marT="114300" marB="114300">
                    <a:solidFill>
                      <a:srgbClr val="FFFFFF"/>
                    </a:solidFill>
                  </a:tcPr>
                </a:tc>
                <a:tc>
                  <a:txBody>
                    <a:bodyPr/>
                    <a:lstStyle/>
                    <a:p>
                      <a:r>
                        <a:rPr sz="1800">
                          <a:solidFill>
                            <a:srgbClr val="243C50"/>
                          </a:solidFill>
                          <a:latin typeface="DejaVu Sans"/>
                          <a:ea typeface="DejaVu Sans"/>
                          <a:cs typeface="DejaVu Sans"/>
                        </a:rPr>
                        <a:t>ModifySubnetAttribute</a:t>
                      </a:r>
                    </a:p>
                  </a:txBody>
                  <a:tcPr marL="133350" marR="133350" marT="114300" marB="114300">
                    <a:solidFill>
                      <a:srgbClr val="FFFFFF"/>
                    </a:solidFill>
                  </a:tcPr>
                </a:tc>
                <a:tc>
                  <a:txBody>
                    <a:bodyPr/>
                    <a:lstStyle/>
                    <a:p>
                      <a:r>
                        <a:rPr sz="1800">
                          <a:solidFill>
                            <a:srgbClr val="243C50"/>
                          </a:solidFill>
                          <a:latin typeface="DejaVu Sans"/>
                          <a:ea typeface="DejaVu Sans"/>
                          <a:cs typeface="DejaVu Sans"/>
                        </a:rPr>
                        <a:t>Disable automatic public IPv4.</a:t>
                      </a:r>
                    </a:p>
                  </a:txBody>
                  <a:tcPr marL="133350" marR="133350" marT="114300" marB="11430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EF8B3568-7B6E-4D10-BF0B-FEF049E39A99}"/>
              </a:ext>
            </a:extLst>
          </p:cNvPr>
          <p:cNvSpPr>
            <a:spLocks xmlns:a="http://schemas.openxmlformats.org/drawingml/2006/main" noGrp="1"/>
          </p:cNvSpPr>
          <p:nvPr/>
        </p:nvSpPr>
        <p:spPr>
          <a:xfrm xmlns:a="http://schemas.openxmlformats.org/drawingml/2006/main">
            <a:off x="685800" y="5810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Check 0.0.0.0/0, port ranges, tags and current state.</a:t>
            </a:r>
          </a:p>
        </p:txBody>
      </p:sp>
    </p:spTree>
    <p:extLst>
      <p:ext uri="{BB962C8B-B14F-4D97-AF65-F5344CB8AC3E}">
        <p14:creationId xmlns:p14="http://schemas.microsoft.com/office/powerpoint/2010/main" val="140366077"/>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75463EA-AD81-46CF-A7B4-99788EADAFD0}"/>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Identity scenarios 5–7</a:t>
            </a:r>
          </a:p>
        </p:txBody>
      </p:sp>
      <p:sp>
        <p:nvSpPr>
          <p:cNvPr id="2" name="text-1">
            <a:extLst xmlns:a="http://schemas.openxmlformats.org/drawingml/2006/main">
              <a:ext uri="{FF2B5EF4-FFF2-40B4-BE49-F238E27FC236}">
                <a16:creationId xmlns:a16="http://schemas.microsoft.com/office/drawing/2014/main" id="{914AB94E-E57A-48E9-A9A1-365686EA0548}"/>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08</a:t>
            </a:r>
          </a:p>
        </p:txBody>
      </p:sp>
      <p:graphicFrame>
        <p:nvGraphicFramePr>
          <p:cNvPr id="7" name=""/>
          <p:cNvGraphicFramePr/>
          <p:nvPr/>
        </p:nvGraphicFramePr>
        <p:xfrm>
          <a:off xmlns:a="http://schemas.openxmlformats.org/drawingml/2006/main" x="685800" y="1762125"/>
          <a:ext xmlns:a="http://schemas.openxmlformats.org/drawingml/2006/main" cx="10820400" cy="3190875"/>
        </p:xfrm>
        <a:graphic xmlns:a="http://schemas.openxmlformats.org/drawingml/2006/main">
          <a:graphicData uri="http://schemas.openxmlformats.org/drawingml/2006/table">
            <a:tbl>
              <a:tblPr/>
              <a:tblGrid>
                <a:gridCol w="3952875"/>
                <a:gridCol w="2952750"/>
                <a:gridCol w="3914775"/>
              </a:tblGrid>
              <a:tr h="797719">
                <a:tc>
                  <a:txBody>
                    <a:bodyPr/>
                    <a:lstStyle/>
                    <a:p>
                      <a:r>
                        <a:rPr sz="1950" b="1">
                          <a:solidFill>
                            <a:srgbClr val="FFFFFF"/>
                          </a:solidFill>
                          <a:latin typeface="DejaVu Sans"/>
                          <a:ea typeface="DejaVu Sans"/>
                          <a:cs typeface="DejaVu Sans"/>
                        </a:rPr>
                        <a:t>Change on test user</a:t>
                      </a:r>
                    </a:p>
                  </a:txBody>
                  <a:tcPr marL="133350" marR="133350" marT="114300" marB="114300">
                    <a:solidFill>
                      <a:srgbClr val="13283F"/>
                    </a:solidFill>
                  </a:tcPr>
                </a:tc>
                <a:tc>
                  <a:txBody>
                    <a:bodyPr/>
                    <a:lstStyle/>
                    <a:p>
                      <a:r>
                        <a:rPr sz="1950" b="1">
                          <a:solidFill>
                            <a:srgbClr val="FFFFFF"/>
                          </a:solidFill>
                          <a:latin typeface="DejaVu Sans"/>
                          <a:ea typeface="DejaVu Sans"/>
                          <a:cs typeface="DejaVu Sans"/>
                        </a:rPr>
                        <a:t>API event</a:t>
                      </a:r>
                    </a:p>
                  </a:txBody>
                  <a:tcPr marL="133350" marR="133350" marT="114300" marB="114300">
                    <a:solidFill>
                      <a:srgbClr val="13283F"/>
                    </a:solidFill>
                  </a:tcPr>
                </a:tc>
                <a:tc>
                  <a:txBody>
                    <a:bodyPr/>
                    <a:lstStyle/>
                    <a:p>
                      <a:r>
                        <a:rPr sz="1950" b="1">
                          <a:solidFill>
                            <a:srgbClr val="FFFFFF"/>
                          </a:solidFill>
                          <a:latin typeface="DejaVu Sans"/>
                          <a:ea typeface="DejaVu Sans"/>
                          <a:cs typeface="DejaVu Sans"/>
                        </a:rPr>
                        <a:t>Python repair</a:t>
                      </a:r>
                    </a:p>
                  </a:txBody>
                  <a:tcPr marL="133350" marR="133350" marT="114300" marB="114300">
                    <a:solidFill>
                      <a:srgbClr val="13283F"/>
                    </a:solidFill>
                  </a:tcPr>
                </a:tc>
              </a:tr>
              <a:tr h="797719">
                <a:tc>
                  <a:txBody>
                    <a:bodyPr/>
                    <a:lstStyle/>
                    <a:p>
                      <a:r>
                        <a:rPr sz="1950">
                          <a:solidFill>
                            <a:srgbClr val="243C50"/>
                          </a:solidFill>
                          <a:latin typeface="DejaVu Sans"/>
                          <a:ea typeface="DejaVu Sans"/>
                          <a:cs typeface="DejaVu Sans"/>
                        </a:rPr>
                        <a:t>Attach AdministratorAccess</a:t>
                      </a:r>
                    </a:p>
                  </a:txBody>
                  <a:tcPr marL="133350" marR="133350" marT="114300" marB="114300">
                    <a:solidFill>
                      <a:srgbClr val="FFFFFF"/>
                    </a:solidFill>
                  </a:tcPr>
                </a:tc>
                <a:tc>
                  <a:txBody>
                    <a:bodyPr/>
                    <a:lstStyle/>
                    <a:p>
                      <a:r>
                        <a:rPr sz="1950">
                          <a:solidFill>
                            <a:srgbClr val="243C50"/>
                          </a:solidFill>
                          <a:latin typeface="DejaVu Sans"/>
                          <a:ea typeface="DejaVu Sans"/>
                          <a:cs typeface="DejaVu Sans"/>
                        </a:rPr>
                        <a:t>AttachUserPolicy</a:t>
                      </a:r>
                    </a:p>
                  </a:txBody>
                  <a:tcPr marL="133350" marR="133350" marT="114300" marB="114300">
                    <a:solidFill>
                      <a:srgbClr val="FFFFFF"/>
                    </a:solidFill>
                  </a:tcPr>
                </a:tc>
                <a:tc>
                  <a:txBody>
                    <a:bodyPr/>
                    <a:lstStyle/>
                    <a:p>
                      <a:r>
                        <a:rPr sz="1950">
                          <a:solidFill>
                            <a:srgbClr val="243C50"/>
                          </a:solidFill>
                          <a:latin typeface="DejaVu Sans"/>
                          <a:ea typeface="DejaVu Sans"/>
                          <a:cs typeface="DejaVu Sans"/>
                        </a:rPr>
                        <a:t>Detach AdministratorAccess.</a:t>
                      </a:r>
                    </a:p>
                  </a:txBody>
                  <a:tcPr marL="133350" marR="133350" marT="114300" marB="114300">
                    <a:solidFill>
                      <a:srgbClr val="FFFFFF"/>
                    </a:solidFill>
                  </a:tcPr>
                </a:tc>
              </a:tr>
              <a:tr h="797719">
                <a:tc>
                  <a:txBody>
                    <a:bodyPr/>
                    <a:lstStyle/>
                    <a:p>
                      <a:r>
                        <a:rPr sz="1950">
                          <a:solidFill>
                            <a:srgbClr val="243C50"/>
                          </a:solidFill>
                          <a:latin typeface="DejaVu Sans"/>
                          <a:ea typeface="DejaVu Sans"/>
                          <a:cs typeface="DejaVu Sans"/>
                        </a:rPr>
                        <a:t>Inline Action:* Resource:*</a:t>
                      </a:r>
                    </a:p>
                  </a:txBody>
                  <a:tcPr marL="133350" marR="133350" marT="114300" marB="114300">
                    <a:solidFill>
                      <a:srgbClr val="FFFFFF"/>
                    </a:solidFill>
                  </a:tcPr>
                </a:tc>
                <a:tc>
                  <a:txBody>
                    <a:bodyPr/>
                    <a:lstStyle/>
                    <a:p>
                      <a:r>
                        <a:rPr sz="1950">
                          <a:solidFill>
                            <a:srgbClr val="243C50"/>
                          </a:solidFill>
                          <a:latin typeface="DejaVu Sans"/>
                          <a:ea typeface="DejaVu Sans"/>
                          <a:cs typeface="DejaVu Sans"/>
                        </a:rPr>
                        <a:t>PutUserPolicy</a:t>
                      </a:r>
                    </a:p>
                  </a:txBody>
                  <a:tcPr marL="133350" marR="133350" marT="114300" marB="114300">
                    <a:solidFill>
                      <a:srgbClr val="FFFFFF"/>
                    </a:solidFill>
                  </a:tcPr>
                </a:tc>
                <a:tc>
                  <a:txBody>
                    <a:bodyPr/>
                    <a:lstStyle/>
                    <a:p>
                      <a:r>
                        <a:rPr sz="1950">
                          <a:solidFill>
                            <a:srgbClr val="243C50"/>
                          </a:solidFill>
                          <a:latin typeface="DejaVu Sans"/>
                          <a:ea typeface="DejaVu Sans"/>
                          <a:cs typeface="DejaVu Sans"/>
                        </a:rPr>
                        <a:t>Delete the exercise policy.</a:t>
                      </a:r>
                    </a:p>
                  </a:txBody>
                  <a:tcPr marL="133350" marR="133350" marT="114300" marB="114300">
                    <a:solidFill>
                      <a:srgbClr val="FFFFFF"/>
                    </a:solidFill>
                  </a:tcPr>
                </a:tc>
              </a:tr>
              <a:tr h="797719">
                <a:tc>
                  <a:txBody>
                    <a:bodyPr/>
                    <a:lstStyle/>
                    <a:p>
                      <a:r>
                        <a:rPr sz="1950">
                          <a:solidFill>
                            <a:srgbClr val="243C50"/>
                          </a:solidFill>
                          <a:latin typeface="DejaVu Sans"/>
                          <a:ea typeface="DejaVu Sans"/>
                          <a:cs typeface="DejaVu Sans"/>
                        </a:rPr>
                        <a:t>Create an access key</a:t>
                      </a:r>
                    </a:p>
                  </a:txBody>
                  <a:tcPr marL="133350" marR="133350" marT="114300" marB="114300">
                    <a:solidFill>
                      <a:srgbClr val="FFFFFF"/>
                    </a:solidFill>
                  </a:tcPr>
                </a:tc>
                <a:tc>
                  <a:txBody>
                    <a:bodyPr/>
                    <a:lstStyle/>
                    <a:p>
                      <a:r>
                        <a:rPr sz="1950">
                          <a:solidFill>
                            <a:srgbClr val="243C50"/>
                          </a:solidFill>
                          <a:latin typeface="DejaVu Sans"/>
                          <a:ea typeface="DejaVu Sans"/>
                          <a:cs typeface="DejaVu Sans"/>
                        </a:rPr>
                        <a:t>CreateAccessKey</a:t>
                      </a:r>
                    </a:p>
                  </a:txBody>
                  <a:tcPr marL="133350" marR="133350" marT="114300" marB="114300">
                    <a:solidFill>
                      <a:srgbClr val="FFFFFF"/>
                    </a:solidFill>
                  </a:tcPr>
                </a:tc>
                <a:tc>
                  <a:txBody>
                    <a:bodyPr/>
                    <a:lstStyle/>
                    <a:p>
                      <a:r>
                        <a:rPr sz="1950">
                          <a:solidFill>
                            <a:srgbClr val="243C50"/>
                          </a:solidFill>
                          <a:latin typeface="DejaVu Sans"/>
                          <a:ea typeface="DejaVu Sans"/>
                          <a:cs typeface="DejaVu Sans"/>
                        </a:rPr>
                        <a:t>Deactivate the new key.</a:t>
                      </a:r>
                    </a:p>
                  </a:txBody>
                  <a:tcPr marL="133350" marR="133350" marT="114300" marB="11430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E6347DB5-3283-476B-AE89-49C69216ADA4}"/>
              </a:ext>
            </a:extLst>
          </p:cNvPr>
          <p:cNvSpPr>
            <a:spLocks xmlns:a="http://schemas.openxmlformats.org/drawingml/2006/main" noGrp="1"/>
          </p:cNvSpPr>
          <p:nvPr/>
        </p:nvSpPr>
        <p:spPr>
          <a:xfrm xmlns:a="http://schemas.openxmlformats.org/drawingml/2006/main">
            <a:off x="685800" y="56388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Target: Workshop-Target-01 with a mandatory deny-all boundary.</a:t>
            </a:r>
          </a:p>
        </p:txBody>
      </p:sp>
    </p:spTree>
    <p:extLst>
      <p:ext uri="{BB962C8B-B14F-4D97-AF65-F5344CB8AC3E}">
        <p14:creationId xmlns:p14="http://schemas.microsoft.com/office/powerpoint/2010/main" val="1544949643"/>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B38DF17-8B14-4964-802C-7189F850720B}"/>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Storage scenarios 8–10</a:t>
            </a:r>
          </a:p>
        </p:txBody>
      </p:sp>
      <p:sp>
        <p:nvSpPr>
          <p:cNvPr id="2" name="text-1">
            <a:extLst xmlns:a="http://schemas.openxmlformats.org/drawingml/2006/main">
              <a:ext uri="{FF2B5EF4-FFF2-40B4-BE49-F238E27FC236}">
                <a16:creationId xmlns:a16="http://schemas.microsoft.com/office/drawing/2014/main" id="{95A46C8C-F4EB-4F73-8A4B-CBA26BB8D83A}"/>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09</a:t>
            </a:r>
          </a:p>
        </p:txBody>
      </p:sp>
      <p:graphicFrame>
        <p:nvGraphicFramePr>
          <p:cNvPr id="7" name=""/>
          <p:cNvGraphicFramePr/>
          <p:nvPr/>
        </p:nvGraphicFramePr>
        <p:xfrm>
          <a:off xmlns:a="http://schemas.openxmlformats.org/drawingml/2006/main" x="685800" y="1762125"/>
          <a:ext xmlns:a="http://schemas.openxmlformats.org/drawingml/2006/main" cx="10820400" cy="3190875"/>
        </p:xfrm>
        <a:graphic xmlns:a="http://schemas.openxmlformats.org/drawingml/2006/main">
          <a:graphicData uri="http://schemas.openxmlformats.org/drawingml/2006/table">
            <a:tbl>
              <a:tblPr/>
              <a:tblGrid>
                <a:gridCol w="3714750"/>
                <a:gridCol w="3619500"/>
                <a:gridCol w="3486150"/>
              </a:tblGrid>
              <a:tr h="797719">
                <a:tc>
                  <a:txBody>
                    <a:bodyPr/>
                    <a:lstStyle/>
                    <a:p>
                      <a:r>
                        <a:rPr sz="1875" b="1">
                          <a:solidFill>
                            <a:srgbClr val="FFFFFF"/>
                          </a:solidFill>
                          <a:latin typeface="DejaVu Sans"/>
                          <a:ea typeface="DejaVu Sans"/>
                          <a:cs typeface="DejaVu Sans"/>
                        </a:rPr>
                        <a:t>Change</a:t>
                      </a:r>
                    </a:p>
                  </a:txBody>
                  <a:tcPr marL="133350" marR="133350" marT="114300" marB="114300">
                    <a:solidFill>
                      <a:srgbClr val="13283F"/>
                    </a:solidFill>
                  </a:tcPr>
                </a:tc>
                <a:tc>
                  <a:txBody>
                    <a:bodyPr/>
                    <a:lstStyle/>
                    <a:p>
                      <a:r>
                        <a:rPr sz="1875" b="1">
                          <a:solidFill>
                            <a:srgbClr val="FFFFFF"/>
                          </a:solidFill>
                          <a:latin typeface="DejaVu Sans"/>
                          <a:ea typeface="DejaVu Sans"/>
                          <a:cs typeface="DejaVu Sans"/>
                        </a:rPr>
                        <a:t>Detection</a:t>
                      </a:r>
                    </a:p>
                  </a:txBody>
                  <a:tcPr marL="133350" marR="133350" marT="114300" marB="114300">
                    <a:solidFill>
                      <a:srgbClr val="13283F"/>
                    </a:solidFill>
                  </a:tcPr>
                </a:tc>
                <a:tc>
                  <a:txBody>
                    <a:bodyPr/>
                    <a:lstStyle/>
                    <a:p>
                      <a:r>
                        <a:rPr sz="1875" b="1">
                          <a:solidFill>
                            <a:srgbClr val="FFFFFF"/>
                          </a:solidFill>
                          <a:latin typeface="DejaVu Sans"/>
                          <a:ea typeface="DejaVu Sans"/>
                          <a:cs typeface="DejaVu Sans"/>
                        </a:rPr>
                        <a:t>Python repair</a:t>
                      </a:r>
                    </a:p>
                  </a:txBody>
                  <a:tcPr marL="133350" marR="133350" marT="114300" marB="114300">
                    <a:solidFill>
                      <a:srgbClr val="13283F"/>
                    </a:solidFill>
                  </a:tcPr>
                </a:tc>
              </a:tr>
              <a:tr h="797719">
                <a:tc>
                  <a:txBody>
                    <a:bodyPr/>
                    <a:lstStyle/>
                    <a:p>
                      <a:r>
                        <a:rPr sz="1875">
                          <a:solidFill>
                            <a:srgbClr val="243C50"/>
                          </a:solidFill>
                          <a:latin typeface="DejaVu Sans"/>
                          <a:ea typeface="DejaVu Sans"/>
                          <a:cs typeface="DejaVu Sans"/>
                        </a:rPr>
                        <a:t>Disable bucket BPA</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Bucket BPA update in CloudTrail</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Enable all four BPA settings.</a:t>
                      </a:r>
                    </a:p>
                  </a:txBody>
                  <a:tcPr marL="133350" marR="133350" marT="114300" marB="114300">
                    <a:solidFill>
                      <a:srgbClr val="FFFFFF"/>
                    </a:solidFill>
                  </a:tcPr>
                </a:tc>
              </a:tr>
              <a:tr h="797719">
                <a:tc>
                  <a:txBody>
                    <a:bodyPr/>
                    <a:lstStyle/>
                    <a:p>
                      <a:r>
                        <a:rPr sz="1875">
                          <a:solidFill>
                            <a:srgbClr val="243C50"/>
                          </a:solidFill>
                          <a:latin typeface="DejaVu Sans"/>
                          <a:ea typeface="DejaVu Sans"/>
                          <a:cs typeface="DejaVu Sans"/>
                        </a:rPr>
                        <a:t>Public SQS SendMessage</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SetQueueAttributes: Policy</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Remove the public statement.</a:t>
                      </a:r>
                    </a:p>
                  </a:txBody>
                  <a:tcPr marL="133350" marR="133350" marT="114300" marB="114300">
                    <a:solidFill>
                      <a:srgbClr val="FFFFFF"/>
                    </a:solidFill>
                  </a:tcPr>
                </a:tc>
              </a:tr>
              <a:tr h="797719">
                <a:tc>
                  <a:txBody>
                    <a:bodyPr/>
                    <a:lstStyle/>
                    <a:p>
                      <a:r>
                        <a:rPr sz="1875">
                          <a:solidFill>
                            <a:srgbClr val="243C50"/>
                          </a:solidFill>
                          <a:latin typeface="DejaVu Sans"/>
                          <a:ea typeface="DejaVu Sans"/>
                          <a:cs typeface="DejaVu Sans"/>
                        </a:rPr>
                        <a:t>Disable SQS encryption</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SetQueueAttributes: encryption</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Enable SSE-SQS.</a:t>
                      </a:r>
                    </a:p>
                  </a:txBody>
                  <a:tcPr marL="133350" marR="133350" marT="114300" marB="11430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7EA7F8BB-628F-4D02-9023-499F777093CE}"/>
              </a:ext>
            </a:extLst>
          </p:cNvPr>
          <p:cNvSpPr>
            <a:spLocks xmlns:a="http://schemas.openxmlformats.org/drawingml/2006/main" noGrp="1"/>
          </p:cNvSpPr>
          <p:nvPr/>
        </p:nvSpPr>
        <p:spPr>
          <a:xfrm xmlns:a="http://schemas.openxmlformats.org/drawingml/2006/main">
            <a:off x="685800" y="56388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Account-level S3 BPA stays enabled. All lab resources stay empty.</a:t>
            </a:r>
          </a:p>
        </p:txBody>
      </p:sp>
    </p:spTree>
    <p:extLst>
      <p:ext uri="{BB962C8B-B14F-4D97-AF65-F5344CB8AC3E}">
        <p14:creationId xmlns:p14="http://schemas.microsoft.com/office/powerpoint/2010/main" val="772418548"/>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7D688776-339E-49CF-8774-B697D82337D2}"/>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EventBridge filter example</a:t>
            </a:r>
          </a:p>
        </p:txBody>
      </p:sp>
      <p:sp>
        <p:nvSpPr>
          <p:cNvPr id="2" name="text-1">
            <a:extLst xmlns:a="http://schemas.openxmlformats.org/drawingml/2006/main">
              <a:ext uri="{FF2B5EF4-FFF2-40B4-BE49-F238E27FC236}">
                <a16:creationId xmlns:a16="http://schemas.microsoft.com/office/drawing/2014/main" id="{298834E9-0F49-46C8-ACCA-0881E4B6DB53}"/>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10</a:t>
            </a:r>
          </a:p>
        </p:txBody>
      </p:sp>
      <p:sp>
        <p:nvSpPr>
          <p:cNvPr id="3" name="text-2">
            <a:extLst xmlns:a="http://schemas.openxmlformats.org/drawingml/2006/main">
              <a:ext uri="{FF2B5EF4-FFF2-40B4-BE49-F238E27FC236}">
                <a16:creationId xmlns:a16="http://schemas.microsoft.com/office/drawing/2014/main" id="{6AC9FEAE-D1CF-4E39-BB24-9B7409D5DB94}"/>
              </a:ext>
            </a:extLst>
          </p:cNvPr>
          <p:cNvSpPr>
            <a:spLocks xmlns:a="http://schemas.openxmlformats.org/drawingml/2006/main" noGrp="1"/>
          </p:cNvSpPr>
          <p:nvPr/>
        </p:nvSpPr>
        <p:spPr>
          <a:xfrm xmlns:a="http://schemas.openxmlformats.org/drawingml/2006/main">
            <a:off x="685800" y="1543050"/>
            <a:ext cx="10668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"source": ["aws.ec2"],</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"detail-type": ["AWS API Call via CloudTrail"],</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"detail": {</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"eventSource": ["ec2.amazonaws.com"],</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"eventName": ["ModifySubnetAttribute"],</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"errorCode": [{"exists": false}],</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"userIdentity": {</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"arn": [</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"arn:aws:iam::ACCOUNT_ID:user/workshop/user01"</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  }</a:t>
            </a:r>
          </a:p>
          <a:p xmlns:a="http://schemas.openxmlformats.org/drawingml/2006/main">
            <a:pPr>
              <a:defRPr sz="1875" b="0">
                <a:solidFill>
                  <a:srgbClr val="243C50"/>
                </a:solidFill>
                <a:latin typeface="DejaVu Sans Mono"/>
                <a:ea typeface="DejaVu Sans Mono"/>
                <a:cs typeface="DejaVu Sans Mono"/>
              </a:defRPr>
            </a:pPr>
            <a:r>
              <a:rPr sz="1875" b="0">
                <a:solidFill>
                  <a:srgbClr val="243C50"/>
                </a:solidFill>
                <a:latin typeface="DejaVu Sans Mono"/>
                <a:ea typeface="DejaVu Sans Mono"/>
                <a:cs typeface="DejaVu Sans Mono"/>
              </a:rPr>
              <a:t>}</a:t>
            </a:r>
          </a:p>
        </p:txBody>
      </p:sp>
      <p:sp>
        <p:nvSpPr>
          <p:cNvPr id="4" name="text-3">
            <a:extLst xmlns:a="http://schemas.openxmlformats.org/drawingml/2006/main">
              <a:ext uri="{FF2B5EF4-FFF2-40B4-BE49-F238E27FC236}">
                <a16:creationId xmlns:a16="http://schemas.microsoft.com/office/drawing/2014/main" id="{63FEA34B-59A0-470E-A77C-A97BCDBD0E08}"/>
              </a:ext>
            </a:extLst>
          </p:cNvPr>
          <p:cNvSpPr>
            <a:spLocks xmlns:a="http://schemas.openxmlformats.org/drawingml/2006/main" noGrp="1"/>
          </p:cNvSpPr>
          <p:nvPr/>
        </p:nvSpPr>
        <p:spPr>
          <a:xfrm xmlns:a="http://schemas.openxmlformats.org/drawingml/2006/main">
            <a:off x="685800" y="59531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Use the network account ID. Match successful student calls.</a:t>
            </a:r>
          </a:p>
        </p:txBody>
      </p:sp>
    </p:spTree>
    <p:extLst>
      <p:ext uri="{BB962C8B-B14F-4D97-AF65-F5344CB8AC3E}">
        <p14:creationId xmlns:p14="http://schemas.microsoft.com/office/powerpoint/2010/main" val="39524320"/>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DA48D0B-D772-40B7-96C0-D048AF1C53B5}"/>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Remediation logic</a:t>
            </a:r>
          </a:p>
        </p:txBody>
      </p:sp>
      <p:sp>
        <p:nvSpPr>
          <p:cNvPr id="2" name="text-1">
            <a:extLst xmlns:a="http://schemas.openxmlformats.org/drawingml/2006/main">
              <a:ext uri="{FF2B5EF4-FFF2-40B4-BE49-F238E27FC236}">
                <a16:creationId xmlns:a16="http://schemas.microsoft.com/office/drawing/2014/main" id="{906CB276-716F-46DA-876F-6C4ED5BDB325}"/>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11</a:t>
            </a:r>
          </a:p>
        </p:txBody>
      </p:sp>
      <p:sp>
        <p:nvSpPr>
          <p:cNvPr id="3" name="text-2">
            <a:extLst xmlns:a="http://schemas.openxmlformats.org/drawingml/2006/main">
              <a:ext uri="{FF2B5EF4-FFF2-40B4-BE49-F238E27FC236}">
                <a16:creationId xmlns:a16="http://schemas.microsoft.com/office/drawing/2014/main" id="{40437E59-360E-4E1F-B1D9-6232E4359DD9}"/>
              </a:ext>
            </a:extLst>
          </p:cNvPr>
          <p:cNvSpPr>
            <a:spLocks xmlns:a="http://schemas.openxmlformats.org/drawingml/2006/main" noGrp="1"/>
          </p:cNvSpPr>
          <p:nvPr/>
        </p:nvSpPr>
        <p:spPr>
          <a:xfrm xmlns:a="http://schemas.openxmlformats.org/drawingml/2006/main">
            <a:off x="6858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43C50"/>
                </a:solidFill>
                <a:latin typeface="DejaVu Sans"/>
                <a:ea typeface="DejaVu Sans"/>
                <a:cs typeface="DejaVu Sans"/>
              </a:defRPr>
            </a:pPr>
            <a:r>
              <a:rPr sz="2175" b="0">
                <a:solidFill>
                  <a:srgbClr val="243C50"/>
                </a:solidFill>
                <a:latin typeface="DejaVu Sans"/>
                <a:ea typeface="DejaVu Sans"/>
                <a:cs typeface="DejaVu Sans"/>
              </a:rPr>
              <a:t>1  Validate the event and the resource identifier.</a:t>
            </a:r>
          </a:p>
        </p:txBody>
      </p:sp>
      <p:sp>
        <p:nvSpPr>
          <p:cNvPr id="4" name="text-3">
            <a:extLst xmlns:a="http://schemas.openxmlformats.org/drawingml/2006/main">
              <a:ext uri="{FF2B5EF4-FFF2-40B4-BE49-F238E27FC236}">
                <a16:creationId xmlns:a16="http://schemas.microsoft.com/office/drawing/2014/main" id="{B4C6CD8A-5CE1-46B4-8034-18662ECD0B3F}"/>
              </a:ext>
            </a:extLst>
          </p:cNvPr>
          <p:cNvSpPr>
            <a:spLocks xmlns:a="http://schemas.openxmlformats.org/drawingml/2006/main" noGrp="1"/>
          </p:cNvSpPr>
          <p:nvPr/>
        </p:nvSpPr>
        <p:spPr>
          <a:xfrm xmlns:a="http://schemas.openxmlformats.org/drawingml/2006/main">
            <a:off x="685800" y="2362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43C50"/>
                </a:solidFill>
                <a:latin typeface="DejaVu Sans"/>
                <a:ea typeface="DejaVu Sans"/>
                <a:cs typeface="DejaVu Sans"/>
              </a:defRPr>
            </a:pPr>
            <a:r>
              <a:rPr sz="2175" b="0">
                <a:solidFill>
                  <a:srgbClr val="243C50"/>
                </a:solidFill>
                <a:latin typeface="DejaVu Sans"/>
                <a:ea typeface="DejaVu Sans"/>
                <a:cs typeface="DejaVu Sans"/>
              </a:rPr>
              <a:t>2  Read tags, account scope and current configuration.</a:t>
            </a:r>
          </a:p>
        </p:txBody>
      </p:sp>
      <p:sp>
        <p:nvSpPr>
          <p:cNvPr id="5" name="text-4">
            <a:extLst xmlns:a="http://schemas.openxmlformats.org/drawingml/2006/main">
              <a:ext uri="{FF2B5EF4-FFF2-40B4-BE49-F238E27FC236}">
                <a16:creationId xmlns:a16="http://schemas.microsoft.com/office/drawing/2014/main" id="{A6576E0C-E8F0-4D8C-B9EC-8F3E62E78713}"/>
              </a:ext>
            </a:extLst>
          </p:cNvPr>
          <p:cNvSpPr>
            <a:spLocks xmlns:a="http://schemas.openxmlformats.org/drawingml/2006/main" noGrp="1"/>
          </p:cNvSpPr>
          <p:nvPr/>
        </p:nvSpPr>
        <p:spPr>
          <a:xfrm xmlns:a="http://schemas.openxmlformats.org/drawingml/2006/main">
            <a:off x="685800" y="31051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43C50"/>
                </a:solidFill>
                <a:latin typeface="DejaVu Sans"/>
                <a:ea typeface="DejaVu Sans"/>
                <a:cs typeface="DejaVu Sans"/>
              </a:defRPr>
            </a:pPr>
            <a:r>
              <a:rPr sz="2175" b="0">
                <a:solidFill>
                  <a:srgbClr val="243C50"/>
                </a:solidFill>
                <a:latin typeface="DejaVu Sans"/>
                <a:ea typeface="DejaVu Sans"/>
                <a:cs typeface="DejaVu Sans"/>
              </a:rPr>
              <a:t>3  Return without writing if the resource is compliant.</a:t>
            </a:r>
          </a:p>
        </p:txBody>
      </p:sp>
      <p:sp>
        <p:nvSpPr>
          <p:cNvPr id="6" name="text-5">
            <a:extLst xmlns:a="http://schemas.openxmlformats.org/drawingml/2006/main">
              <a:ext uri="{FF2B5EF4-FFF2-40B4-BE49-F238E27FC236}">
                <a16:creationId xmlns:a16="http://schemas.microsoft.com/office/drawing/2014/main" id="{C4A2CFC3-3DD1-4DDF-9238-2A711A48E692}"/>
              </a:ext>
            </a:extLst>
          </p:cNvPr>
          <p:cNvSpPr>
            <a:spLocks xmlns:a="http://schemas.openxmlformats.org/drawingml/2006/main" noGrp="1"/>
          </p:cNvSpPr>
          <p:nvPr/>
        </p:nvSpPr>
        <p:spPr>
          <a:xfrm xmlns:a="http://schemas.openxmlformats.org/drawingml/2006/main">
            <a:off x="685800" y="38481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43C50"/>
                </a:solidFill>
                <a:latin typeface="DejaVu Sans"/>
                <a:ea typeface="DejaVu Sans"/>
                <a:cs typeface="DejaVu Sans"/>
              </a:defRPr>
            </a:pPr>
            <a:r>
              <a:rPr sz="2175" b="0">
                <a:solidFill>
                  <a:srgbClr val="243C50"/>
                </a:solidFill>
                <a:latin typeface="DejaVu Sans"/>
                <a:ea typeface="DejaVu Sans"/>
                <a:cs typeface="DejaVu Sans"/>
              </a:rPr>
              <a:t>4  Apply the smallest repair and verify the result.</a:t>
            </a:r>
          </a:p>
        </p:txBody>
      </p:sp>
      <p:sp>
        <p:nvSpPr>
          <p:cNvPr id="7" name="text-6">
            <a:extLst xmlns:a="http://schemas.openxmlformats.org/drawingml/2006/main">
              <a:ext uri="{FF2B5EF4-FFF2-40B4-BE49-F238E27FC236}">
                <a16:creationId xmlns:a16="http://schemas.microsoft.com/office/drawing/2014/main" id="{DDF5B2E3-C896-4216-8207-7213709A60C1}"/>
              </a:ext>
            </a:extLst>
          </p:cNvPr>
          <p:cNvSpPr>
            <a:spLocks xmlns:a="http://schemas.openxmlformats.org/drawingml/2006/main" noGrp="1"/>
          </p:cNvSpPr>
          <p:nvPr/>
        </p:nvSpPr>
        <p:spPr>
          <a:xfrm xmlns:a="http://schemas.openxmlformats.org/drawingml/2006/main">
            <a:off x="685800" y="45910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43C50"/>
                </a:solidFill>
                <a:latin typeface="DejaVu Sans"/>
                <a:ea typeface="DejaVu Sans"/>
                <a:cs typeface="DejaVu Sans"/>
              </a:defRPr>
            </a:pPr>
            <a:r>
              <a:rPr sz="2175" b="0">
                <a:solidFill>
                  <a:srgbClr val="243C50"/>
                </a:solidFill>
                <a:latin typeface="DejaVu Sans"/>
                <a:ea typeface="DejaVu Sans"/>
                <a:cs typeface="DejaVu Sans"/>
              </a:rPr>
              <a:t>5  Log event ID, resource ID and outcome.</a:t>
            </a:r>
          </a:p>
        </p:txBody>
      </p:sp>
    </p:spTree>
    <p:extLst>
      <p:ext uri="{BB962C8B-B14F-4D97-AF65-F5344CB8AC3E}">
        <p14:creationId xmlns:p14="http://schemas.microsoft.com/office/powerpoint/2010/main" val="1486910441"/>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FC5DA897-ED26-44BA-8535-CE3B447AA10E}"/>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Python example: subnet repair</a:t>
            </a:r>
          </a:p>
        </p:txBody>
      </p:sp>
      <p:sp>
        <p:nvSpPr>
          <p:cNvPr id="2" name="text-1">
            <a:extLst xmlns:a="http://schemas.openxmlformats.org/drawingml/2006/main">
              <a:ext uri="{FF2B5EF4-FFF2-40B4-BE49-F238E27FC236}">
                <a16:creationId xmlns:a16="http://schemas.microsoft.com/office/drawing/2014/main" id="{27D4DD38-EE31-440F-A91F-816A035F450D}"/>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12</a:t>
            </a:r>
          </a:p>
        </p:txBody>
      </p:sp>
      <p:sp>
        <p:nvSpPr>
          <p:cNvPr id="3" name="text-2">
            <a:extLst xmlns:a="http://schemas.openxmlformats.org/drawingml/2006/main">
              <a:ext uri="{FF2B5EF4-FFF2-40B4-BE49-F238E27FC236}">
                <a16:creationId xmlns:a16="http://schemas.microsoft.com/office/drawing/2014/main" id="{6CD859FD-133E-4A11-B1CD-1C6247C0DB5C}"/>
              </a:ext>
            </a:extLst>
          </p:cNvPr>
          <p:cNvSpPr>
            <a:spLocks xmlns:a="http://schemas.openxmlformats.org/drawingml/2006/main" noGrp="1"/>
          </p:cNvSpPr>
          <p:nvPr/>
        </p:nvSpPr>
        <p:spPr>
          <a:xfrm xmlns:a="http://schemas.openxmlformats.org/drawingml/2006/main">
            <a:off x="685800" y="1600200"/>
            <a:ext cx="108204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def repair_subnet(subnet_id):</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s = ec2.describe_subnets(SubnetIds=[subnet_id])["Subnets"][0]</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tags = {t["Key"]: t["Value"] for t in s.get("Tags", [])}</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if s["VpcId"] != VPC_ID:</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return "out_of_scope"</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if tags.get("Workshop") != "true" or tags.get("Owner") != OWNER:</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return "out_of_scope"</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if not s["MapPublicIpOnLaunch"]:</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return "already_compliant"</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ec2.modify_subnet_attribute(</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SubnetId=subnet_id, MapPublicIpOnLaunch={"Value": False})</a:t>
            </a:r>
          </a:p>
          <a:p xmlns:a="http://schemas.openxmlformats.org/drawingml/2006/main">
            <a:pPr>
              <a:defRPr sz="1800" b="0">
                <a:solidFill>
                  <a:srgbClr val="243C50"/>
                </a:solidFill>
                <a:latin typeface="DejaVu Sans Mono"/>
                <a:ea typeface="DejaVu Sans Mono"/>
                <a:cs typeface="DejaVu Sans Mono"/>
              </a:defRPr>
            </a:pPr>
            <a:r>
              <a:rPr sz="1800" b="0">
                <a:solidFill>
                  <a:srgbClr val="243C50"/>
                </a:solidFill>
                <a:latin typeface="DejaVu Sans Mono"/>
                <a:ea typeface="DejaVu Sans Mono"/>
                <a:cs typeface="DejaVu Sans Mono"/>
              </a:rPr>
              <a:t>    return "repair_requested"</a:t>
            </a:r>
          </a:p>
        </p:txBody>
      </p:sp>
      <p:sp>
        <p:nvSpPr>
          <p:cNvPr id="4" name="text-3">
            <a:extLst xmlns:a="http://schemas.openxmlformats.org/drawingml/2006/main">
              <a:ext uri="{FF2B5EF4-FFF2-40B4-BE49-F238E27FC236}">
                <a16:creationId xmlns:a16="http://schemas.microsoft.com/office/drawing/2014/main" id="{8F0DEAD7-0B63-402A-8D3E-7B96E3ECBCF1}"/>
              </a:ext>
            </a:extLst>
          </p:cNvPr>
          <p:cNvSpPr>
            <a:spLocks xmlns:a="http://schemas.openxmlformats.org/drawingml/2006/main" noGrp="1"/>
          </p:cNvSpPr>
          <p:nvPr/>
        </p:nvSpPr>
        <p:spPr>
          <a:xfrm xmlns:a="http://schemas.openxmlformats.org/drawingml/2006/main">
            <a:off x="685800" y="57626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Read state first. Verify again after the write.</a:t>
            </a:r>
          </a:p>
        </p:txBody>
      </p:sp>
    </p:spTree>
    <p:extLst>
      <p:ext uri="{BB962C8B-B14F-4D97-AF65-F5344CB8AC3E}">
        <p14:creationId xmlns:p14="http://schemas.microsoft.com/office/powerpoint/2010/main" val="785370344"/>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BCB1F2F-70E9-402F-A158-6D05FA287F8F}"/>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Concurrency, retries and loops</a:t>
            </a:r>
          </a:p>
        </p:txBody>
      </p:sp>
      <p:sp>
        <p:nvSpPr>
          <p:cNvPr id="2" name="text-1">
            <a:extLst xmlns:a="http://schemas.openxmlformats.org/drawingml/2006/main">
              <a:ext uri="{FF2B5EF4-FFF2-40B4-BE49-F238E27FC236}">
                <a16:creationId xmlns:a16="http://schemas.microsoft.com/office/drawing/2014/main" id="{AB32C11E-F4B8-49A2-81A1-B536FDA72BC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13</a:t>
            </a:r>
          </a:p>
        </p:txBody>
      </p:sp>
      <p:sp>
        <p:nvSpPr>
          <p:cNvPr id="3" name="text-2">
            <a:extLst xmlns:a="http://schemas.openxmlformats.org/drawingml/2006/main">
              <a:ext uri="{FF2B5EF4-FFF2-40B4-BE49-F238E27FC236}">
                <a16:creationId xmlns:a16="http://schemas.microsoft.com/office/drawing/2014/main" id="{43D3072D-80CA-4B21-AC6D-6421FDF796CE}"/>
              </a:ext>
            </a:extLst>
          </p:cNvPr>
          <p:cNvSpPr>
            <a:spLocks xmlns:a="http://schemas.openxmlformats.org/drawingml/2006/main" noGrp="1"/>
          </p:cNvSpPr>
          <p:nvPr/>
        </p:nvSpPr>
        <p:spPr>
          <a:xfrm xmlns:a="http://schemas.openxmlformats.org/drawingml/2006/main">
            <a:off x="685800" y="1771650"/>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Multiple events can invoke the same function.</a:t>
            </a:r>
          </a:p>
        </p:txBody>
      </p:sp>
      <p:sp>
        <p:nvSpPr>
          <p:cNvPr id="4" name="text-3">
            <a:extLst xmlns:a="http://schemas.openxmlformats.org/drawingml/2006/main">
              <a:ext uri="{FF2B5EF4-FFF2-40B4-BE49-F238E27FC236}">
                <a16:creationId xmlns:a16="http://schemas.microsoft.com/office/drawing/2014/main" id="{29359C09-AAA9-411B-B6BD-FEE5B6EF30F9}"/>
              </a:ext>
            </a:extLst>
          </p:cNvPr>
          <p:cNvSpPr>
            <a:spLocks xmlns:a="http://schemas.openxmlformats.org/drawingml/2006/main" noGrp="1"/>
          </p:cNvSpPr>
          <p:nvPr/>
        </p:nvSpPr>
        <p:spPr>
          <a:xfrm xmlns:a="http://schemas.openxmlformats.org/drawingml/2006/main">
            <a:off x="685800" y="265747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Reserved concurrency 1 limits active invocations.</a:t>
            </a:r>
          </a:p>
        </p:txBody>
      </p:sp>
      <p:sp>
        <p:nvSpPr>
          <p:cNvPr id="5" name="text-4">
            <a:extLst xmlns:a="http://schemas.openxmlformats.org/drawingml/2006/main">
              <a:ext uri="{FF2B5EF4-FFF2-40B4-BE49-F238E27FC236}">
                <a16:creationId xmlns:a16="http://schemas.microsoft.com/office/drawing/2014/main" id="{FF9EB8B4-8C9A-43FC-AD74-654136E9C9A3}"/>
              </a:ext>
            </a:extLst>
          </p:cNvPr>
          <p:cNvSpPr>
            <a:spLocks xmlns:a="http://schemas.openxmlformats.org/drawingml/2006/main" noGrp="1"/>
          </p:cNvSpPr>
          <p:nvPr/>
        </p:nvSpPr>
        <p:spPr>
          <a:xfrm xmlns:a="http://schemas.openxmlformats.org/drawingml/2006/main">
            <a:off x="685800" y="3543300"/>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Bursts can introduce delay, throttling and retries.</a:t>
            </a:r>
          </a:p>
        </p:txBody>
      </p:sp>
      <p:sp>
        <p:nvSpPr>
          <p:cNvPr id="6" name="text-5">
            <a:extLst xmlns:a="http://schemas.openxmlformats.org/drawingml/2006/main">
              <a:ext uri="{FF2B5EF4-FFF2-40B4-BE49-F238E27FC236}">
                <a16:creationId xmlns:a16="http://schemas.microsoft.com/office/drawing/2014/main" id="{E550422C-1198-4138-816A-ADCF3C4CA5C7}"/>
              </a:ext>
            </a:extLst>
          </p:cNvPr>
          <p:cNvSpPr>
            <a:spLocks xmlns:a="http://schemas.openxmlformats.org/drawingml/2006/main" noGrp="1"/>
          </p:cNvSpPr>
          <p:nvPr/>
        </p:nvSpPr>
        <p:spPr>
          <a:xfrm xmlns:a="http://schemas.openxmlformats.org/drawingml/2006/main">
            <a:off x="685800" y="442912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Student-only filters and no-op checks prevent repair loops.</a:t>
            </a:r>
          </a:p>
        </p:txBody>
      </p:sp>
      <p:sp>
        <p:nvSpPr>
          <p:cNvPr id="7" name="text-6">
            <a:extLst xmlns:a="http://schemas.openxmlformats.org/drawingml/2006/main">
              <a:ext uri="{FF2B5EF4-FFF2-40B4-BE49-F238E27FC236}">
                <a16:creationId xmlns:a16="http://schemas.microsoft.com/office/drawing/2014/main" id="{A2431D87-81AB-4277-B964-E1F7D5E2E08C}"/>
              </a:ext>
            </a:extLst>
          </p:cNvPr>
          <p:cNvSpPr>
            <a:spLocks xmlns:a="http://schemas.openxmlformats.org/drawingml/2006/main" noGrp="1"/>
          </p:cNvSpPr>
          <p:nvPr/>
        </p:nvSpPr>
        <p:spPr>
          <a:xfrm xmlns:a="http://schemas.openxmlformats.org/drawingml/2006/main">
            <a:off x="685800" y="56388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Concurrency limits do not provide exactly-once processing.</a:t>
            </a:r>
          </a:p>
        </p:txBody>
      </p:sp>
    </p:spTree>
    <p:extLst>
      <p:ext uri="{BB962C8B-B14F-4D97-AF65-F5344CB8AC3E}">
        <p14:creationId xmlns:p14="http://schemas.microsoft.com/office/powerpoint/2010/main" val="921464448"/>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6B87BEB-0366-4DF7-B2F1-9C3A8F047B2F}"/>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Cost and troubleshooting</a:t>
            </a:r>
          </a:p>
        </p:txBody>
      </p:sp>
      <p:sp>
        <p:nvSpPr>
          <p:cNvPr id="2" name="text-1">
            <a:extLst xmlns:a="http://schemas.openxmlformats.org/drawingml/2006/main">
              <a:ext uri="{FF2B5EF4-FFF2-40B4-BE49-F238E27FC236}">
                <a16:creationId xmlns:a16="http://schemas.microsoft.com/office/drawing/2014/main" id="{8C99C913-2CE8-4489-BE30-E9016A85B6E7}"/>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14</a:t>
            </a:r>
          </a:p>
        </p:txBody>
      </p:sp>
      <p:graphicFrame>
        <p:nvGraphicFramePr>
          <p:cNvPr id="7" name=""/>
          <p:cNvGraphicFramePr/>
          <p:nvPr/>
        </p:nvGraphicFramePr>
        <p:xfrm>
          <a:off xmlns:a="http://schemas.openxmlformats.org/drawingml/2006/main" x="685800" y="1762125"/>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a:lstStyle/>
                    <a:p>
                      <a:r>
                        <a:rPr sz="1875" b="1">
                          <a:solidFill>
                            <a:srgbClr val="FFFFFF"/>
                          </a:solidFill>
                          <a:latin typeface="DejaVu Sans"/>
                          <a:ea typeface="DejaVu Sans"/>
                          <a:cs typeface="DejaVu Sans"/>
                        </a:rPr>
                        <a:t>Symptom</a:t>
                      </a:r>
                    </a:p>
                  </a:txBody>
                  <a:tcPr marL="133350" marR="133350" marT="114300" marB="114300">
                    <a:solidFill>
                      <a:srgbClr val="13283F"/>
                    </a:solidFill>
                  </a:tcPr>
                </a:tc>
                <a:tc>
                  <a:txBody>
                    <a:bodyPr/>
                    <a:lstStyle/>
                    <a:p>
                      <a:r>
                        <a:rPr sz="1875" b="1">
                          <a:solidFill>
                            <a:srgbClr val="FFFFFF"/>
                          </a:solidFill>
                          <a:latin typeface="DejaVu Sans"/>
                          <a:ea typeface="DejaVu Sans"/>
                          <a:cs typeface="DejaVu Sans"/>
                        </a:rPr>
                        <a:t>First check</a:t>
                      </a:r>
                    </a:p>
                  </a:txBody>
                  <a:tcPr marL="133350" marR="133350" marT="114300" marB="114300">
                    <a:solidFill>
                      <a:srgbClr val="13283F"/>
                    </a:solidFill>
                  </a:tcPr>
                </a:tc>
              </a:tr>
              <a:tr h="733425">
                <a:tc>
                  <a:txBody>
                    <a:bodyPr/>
                    <a:lstStyle/>
                    <a:p>
                      <a:r>
                        <a:rPr sz="1875">
                          <a:solidFill>
                            <a:srgbClr val="243C50"/>
                          </a:solidFill>
                          <a:latin typeface="DejaVu Sans"/>
                          <a:ea typeface="DejaVu Sans"/>
                          <a:cs typeface="DejaVu Sans"/>
                        </a:rPr>
                        <a:t>No invocation</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Trail logging, Region, rule pattern and target role.</a:t>
                      </a:r>
                    </a:p>
                  </a:txBody>
                  <a:tcPr marL="133350" marR="133350" marT="114300" marB="114300">
                    <a:solidFill>
                      <a:srgbClr val="FFFFFF"/>
                    </a:solidFill>
                  </a:tcPr>
                </a:tc>
              </a:tr>
              <a:tr h="733425">
                <a:tc>
                  <a:txBody>
                    <a:bodyPr/>
                    <a:lstStyle/>
                    <a:p>
                      <a:r>
                        <a:rPr sz="1875">
                          <a:solidFill>
                            <a:srgbClr val="243C50"/>
                          </a:solidFill>
                          <a:latin typeface="DejaVu Sans"/>
                          <a:ea typeface="DejaVu Sans"/>
                          <a:cs typeface="DejaVu Sans"/>
                        </a:rPr>
                        <a:t>AccessDenied</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Execution role, boundary, exact ARN and Owner tags.</a:t>
                      </a:r>
                    </a:p>
                  </a:txBody>
                  <a:tcPr marL="133350" marR="133350" marT="114300" marB="114300">
                    <a:solidFill>
                      <a:srgbClr val="FFFFFF"/>
                    </a:solidFill>
                  </a:tcPr>
                </a:tc>
              </a:tr>
              <a:tr h="733425">
                <a:tc>
                  <a:txBody>
                    <a:bodyPr/>
                    <a:lstStyle/>
                    <a:p>
                      <a:r>
                        <a:rPr sz="1875">
                          <a:solidFill>
                            <a:srgbClr val="243C50"/>
                          </a:solidFill>
                          <a:latin typeface="DejaVu Sans"/>
                          <a:ea typeface="DejaVu Sans"/>
                          <a:cs typeface="DejaVu Sans"/>
                        </a:rPr>
                        <a:t>Repeated repairs</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Caller filter and current-state / no-op logic.</a:t>
                      </a:r>
                    </a:p>
                  </a:txBody>
                  <a:tcPr marL="133350" marR="133350" marT="114300" marB="114300">
                    <a:solidFill>
                      <a:srgbClr val="FFFFFF"/>
                    </a:solidFill>
                  </a:tcPr>
                </a:tc>
              </a:tr>
              <a:tr h="733425">
                <a:tc>
                  <a:txBody>
                    <a:bodyPr/>
                    <a:lstStyle/>
                    <a:p>
                      <a:r>
                        <a:rPr sz="1875">
                          <a:solidFill>
                            <a:srgbClr val="243C50"/>
                          </a:solidFill>
                          <a:latin typeface="DejaVu Sans"/>
                          <a:ea typeface="DejaVu Sans"/>
                          <a:cs typeface="DejaVu Sans"/>
                        </a:rPr>
                        <a:t>High duration or throttles</a:t>
                      </a:r>
                    </a:p>
                  </a:txBody>
                  <a:tcPr marL="133350" marR="133350" marT="114300" marB="114300">
                    <a:solidFill>
                      <a:srgbClr val="FFFFFF"/>
                    </a:solidFill>
                  </a:tcPr>
                </a:tc>
                <a:tc>
                  <a:txBody>
                    <a:bodyPr/>
                    <a:lstStyle/>
                    <a:p>
                      <a:r>
                        <a:rPr sz="1875">
                          <a:solidFill>
                            <a:srgbClr val="243C50"/>
                          </a:solidFill>
                          <a:latin typeface="DejaVu Sans"/>
                          <a:ea typeface="DejaVu Sans"/>
                          <a:cs typeface="DejaVu Sans"/>
                        </a:rPr>
                        <a:t>Logs, timeouts, retries and concurrency settings.</a:t>
                      </a:r>
                    </a:p>
                  </a:txBody>
                  <a:tcPr marL="133350" marR="133350" marT="114300" marB="11430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7AC15049-3AE2-41CA-BE97-581D72FE989A}"/>
              </a:ext>
            </a:extLst>
          </p:cNvPr>
          <p:cNvSpPr>
            <a:spLocks xmlns:a="http://schemas.openxmlformats.org/drawingml/2006/main" noGrp="1"/>
          </p:cNvSpPr>
          <p:nvPr/>
        </p:nvSpPr>
        <p:spPr>
          <a:xfrm xmlns:a="http://schemas.openxmlformats.org/drawingml/2006/main">
            <a:off x="685800" y="5810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Start with 128–256 MB, short timeouts and exact filters.</a:t>
            </a:r>
          </a:p>
        </p:txBody>
      </p:sp>
    </p:spTree>
    <p:extLst>
      <p:ext uri="{BB962C8B-B14F-4D97-AF65-F5344CB8AC3E}">
        <p14:creationId xmlns:p14="http://schemas.microsoft.com/office/powerpoint/2010/main" val="1909920211"/>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57F6FDE-0535-471A-A03A-34A9A6437DA6}"/>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Hands-on sequence</a:t>
            </a:r>
          </a:p>
        </p:txBody>
      </p:sp>
      <p:sp>
        <p:nvSpPr>
          <p:cNvPr id="2" name="text-1">
            <a:extLst xmlns:a="http://schemas.openxmlformats.org/drawingml/2006/main">
              <a:ext uri="{FF2B5EF4-FFF2-40B4-BE49-F238E27FC236}">
                <a16:creationId xmlns:a16="http://schemas.microsoft.com/office/drawing/2014/main" id="{91305315-208B-4538-A111-3296331738E0}"/>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15</a:t>
            </a:r>
          </a:p>
        </p:txBody>
      </p:sp>
      <p:sp>
        <p:nvSpPr>
          <p:cNvPr id="3" name="text-2">
            <a:extLst xmlns:a="http://schemas.openxmlformats.org/drawingml/2006/main">
              <a:ext uri="{FF2B5EF4-FFF2-40B4-BE49-F238E27FC236}">
                <a16:creationId xmlns:a16="http://schemas.microsoft.com/office/drawing/2014/main" id="{7E932644-5EC9-4031-B048-E1B0C91EB5FC}"/>
              </a:ext>
            </a:extLst>
          </p:cNvPr>
          <p:cNvSpPr>
            <a:spLocks xmlns:a="http://schemas.openxmlformats.org/drawingml/2006/main" noGrp="1"/>
          </p:cNvSpPr>
          <p:nvPr/>
        </p:nvSpPr>
        <p:spPr>
          <a:xfrm xmlns:a="http://schemas.openxmlformats.org/drawingml/2006/main">
            <a:off x="685800" y="16192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43C50"/>
                </a:solidFill>
                <a:latin typeface="DejaVu Sans"/>
                <a:ea typeface="DejaVu Sans"/>
                <a:cs typeface="DejaVu Sans"/>
              </a:defRPr>
            </a:pPr>
            <a:r>
              <a:rPr sz="2175" b="0">
                <a:solidFill>
                  <a:srgbClr val="243C50"/>
                </a:solidFill>
                <a:latin typeface="DejaVu Sans"/>
                <a:ea typeface="DejaVu Sans"/>
                <a:cs typeface="DejaVu Sans"/>
              </a:rPr>
              <a:t>1  Create your tagged resource and Python function.</a:t>
            </a:r>
          </a:p>
        </p:txBody>
      </p:sp>
      <p:sp>
        <p:nvSpPr>
          <p:cNvPr id="4" name="text-3">
            <a:extLst xmlns:a="http://schemas.openxmlformats.org/drawingml/2006/main">
              <a:ext uri="{FF2B5EF4-FFF2-40B4-BE49-F238E27FC236}">
                <a16:creationId xmlns:a16="http://schemas.microsoft.com/office/drawing/2014/main" id="{1C91BBB5-DA70-47C6-9D4B-3DDD89C98281}"/>
              </a:ext>
            </a:extLst>
          </p:cNvPr>
          <p:cNvSpPr>
            <a:spLocks xmlns:a="http://schemas.openxmlformats.org/drawingml/2006/main" noGrp="1"/>
          </p:cNvSpPr>
          <p:nvPr/>
        </p:nvSpPr>
        <p:spPr>
          <a:xfrm xmlns:a="http://schemas.openxmlformats.org/drawingml/2006/main">
            <a:off x="685800" y="23622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43C50"/>
                </a:solidFill>
                <a:latin typeface="DejaVu Sans"/>
                <a:ea typeface="DejaVu Sans"/>
                <a:cs typeface="DejaVu Sans"/>
              </a:defRPr>
            </a:pPr>
            <a:r>
              <a:rPr sz="2175" b="0">
                <a:solidFill>
                  <a:srgbClr val="243C50"/>
                </a:solidFill>
                <a:latin typeface="DejaVu Sans"/>
                <a:ea typeface="DejaVu Sans"/>
                <a:cs typeface="DejaVu Sans"/>
              </a:rPr>
              <a:t>2  Add a precise rule with your existing event role.</a:t>
            </a:r>
          </a:p>
        </p:txBody>
      </p:sp>
      <p:sp>
        <p:nvSpPr>
          <p:cNvPr id="5" name="text-4">
            <a:extLst xmlns:a="http://schemas.openxmlformats.org/drawingml/2006/main">
              <a:ext uri="{FF2B5EF4-FFF2-40B4-BE49-F238E27FC236}">
                <a16:creationId xmlns:a16="http://schemas.microsoft.com/office/drawing/2014/main" id="{DE2DF887-9629-44C1-9A54-23938518026C}"/>
              </a:ext>
            </a:extLst>
          </p:cNvPr>
          <p:cNvSpPr>
            <a:spLocks xmlns:a="http://schemas.openxmlformats.org/drawingml/2006/main" noGrp="1"/>
          </p:cNvSpPr>
          <p:nvPr/>
        </p:nvSpPr>
        <p:spPr>
          <a:xfrm xmlns:a="http://schemas.openxmlformats.org/drawingml/2006/main">
            <a:off x="685800" y="31051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43C50"/>
                </a:solidFill>
                <a:latin typeface="DejaVu Sans"/>
                <a:ea typeface="DejaVu Sans"/>
                <a:cs typeface="DejaVu Sans"/>
              </a:defRPr>
            </a:pPr>
            <a:r>
              <a:rPr sz="2175" b="0">
                <a:solidFill>
                  <a:srgbClr val="243C50"/>
                </a:solidFill>
                <a:latin typeface="DejaVu Sans"/>
                <a:ea typeface="DejaVu Sans"/>
                <a:cs typeface="DejaVu Sans"/>
              </a:rPr>
              <a:t>3  Introduce one controlled misconfiguration.</a:t>
            </a:r>
          </a:p>
        </p:txBody>
      </p:sp>
      <p:sp>
        <p:nvSpPr>
          <p:cNvPr id="6" name="text-5">
            <a:extLst xmlns:a="http://schemas.openxmlformats.org/drawingml/2006/main">
              <a:ext uri="{FF2B5EF4-FFF2-40B4-BE49-F238E27FC236}">
                <a16:creationId xmlns:a16="http://schemas.microsoft.com/office/drawing/2014/main" id="{FE6F32F8-AEA4-4B79-B5FA-78023E6EBD41}"/>
              </a:ext>
            </a:extLst>
          </p:cNvPr>
          <p:cNvSpPr>
            <a:spLocks xmlns:a="http://schemas.openxmlformats.org/drawingml/2006/main" noGrp="1"/>
          </p:cNvSpPr>
          <p:nvPr/>
        </p:nvSpPr>
        <p:spPr>
          <a:xfrm xmlns:a="http://schemas.openxmlformats.org/drawingml/2006/main">
            <a:off x="685800" y="38481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43C50"/>
                </a:solidFill>
                <a:latin typeface="DejaVu Sans"/>
                <a:ea typeface="DejaVu Sans"/>
                <a:cs typeface="DejaVu Sans"/>
              </a:defRPr>
            </a:pPr>
            <a:r>
              <a:rPr sz="2175" b="0">
                <a:solidFill>
                  <a:srgbClr val="243C50"/>
                </a:solidFill>
                <a:latin typeface="DejaVu Sans"/>
                <a:ea typeface="DejaVu Sans"/>
                <a:cs typeface="DejaVu Sans"/>
              </a:rPr>
              <a:t>4  Confirm the repair in resource settings and logs.</a:t>
            </a:r>
          </a:p>
        </p:txBody>
      </p:sp>
      <p:sp>
        <p:nvSpPr>
          <p:cNvPr id="7" name="text-6">
            <a:extLst xmlns:a="http://schemas.openxmlformats.org/drawingml/2006/main">
              <a:ext uri="{FF2B5EF4-FFF2-40B4-BE49-F238E27FC236}">
                <a16:creationId xmlns:a16="http://schemas.microsoft.com/office/drawing/2014/main" id="{E7C7F7D5-7926-4790-9031-46852A8C0344}"/>
              </a:ext>
            </a:extLst>
          </p:cNvPr>
          <p:cNvSpPr>
            <a:spLocks xmlns:a="http://schemas.openxmlformats.org/drawingml/2006/main" noGrp="1"/>
          </p:cNvSpPr>
          <p:nvPr/>
        </p:nvSpPr>
        <p:spPr>
          <a:xfrm xmlns:a="http://schemas.openxmlformats.org/drawingml/2006/main">
            <a:off x="685800" y="45910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243C50"/>
                </a:solidFill>
                <a:latin typeface="DejaVu Sans"/>
                <a:ea typeface="DejaVu Sans"/>
                <a:cs typeface="DejaVu Sans"/>
              </a:defRPr>
            </a:pPr>
            <a:r>
              <a:rPr sz="2175" b="0">
                <a:solidFill>
                  <a:srgbClr val="243C50"/>
                </a:solidFill>
                <a:latin typeface="DejaVu Sans"/>
                <a:ea typeface="DejaVu Sans"/>
                <a:cs typeface="DejaVu Sans"/>
              </a:rPr>
              <a:t>5  Replay the event and confirm a safe no-op.</a:t>
            </a:r>
          </a:p>
        </p:txBody>
      </p:sp>
    </p:spTree>
    <p:extLst>
      <p:ext uri="{BB962C8B-B14F-4D97-AF65-F5344CB8AC3E}">
        <p14:creationId xmlns:p14="http://schemas.microsoft.com/office/powerpoint/2010/main" val="1479851837"/>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81D3FB9C-9FFC-49B4-A247-DEE9A8076978}"/>
              </a:ext>
            </a:extLst>
          </p:cNvPr>
          <p:cNvSpPr>
            <a:spLocks xmlns:a="http://schemas.openxmlformats.org/drawingml/2006/main" noGrp="1"/>
          </p:cNvSpPr>
          <p:nvPr/>
        </p:nvSpPr>
        <p:spPr>
          <a:xfrm xmlns:a="http://schemas.openxmlformats.org/drawingml/2006/main">
            <a:off x="685800" y="4953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3283F"/>
                </a:solidFill>
                <a:latin typeface="DejaVu Sans"/>
                <a:ea typeface="DejaVu Sans"/>
                <a:cs typeface="DejaVu Sans"/>
              </a:defRPr>
            </a:pPr>
            <a:r>
              <a:rPr sz="3300" b="1">
                <a:solidFill>
                  <a:srgbClr val="13283F"/>
                </a:solidFill>
                <a:latin typeface="DejaVu Sans"/>
                <a:ea typeface="DejaVu Sans"/>
                <a:cs typeface="DejaVu Sans"/>
              </a:rPr>
              <a:t>Evidence and production decisions</a:t>
            </a:r>
          </a:p>
        </p:txBody>
      </p:sp>
      <p:sp>
        <p:nvSpPr>
          <p:cNvPr id="2" name="text-1">
            <a:extLst xmlns:a="http://schemas.openxmlformats.org/drawingml/2006/main">
              <a:ext uri="{FF2B5EF4-FFF2-40B4-BE49-F238E27FC236}">
                <a16:creationId xmlns:a16="http://schemas.microsoft.com/office/drawing/2014/main" id="{D6289194-01D3-4BB6-84C8-FC5102398058}"/>
              </a:ext>
            </a:extLst>
          </p:cNvPr>
          <p:cNvSpPr>
            <a:spLocks xmlns:a="http://schemas.openxmlformats.org/drawingml/2006/main" noGrp="1"/>
          </p:cNvSpPr>
          <p:nvPr/>
        </p:nvSpPr>
        <p:spPr>
          <a:xfrm xmlns:a="http://schemas.openxmlformats.org/drawingml/2006/main">
            <a:off x="11144250" y="63341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0687C"/>
                </a:solidFill>
                <a:latin typeface="DejaVu Sans"/>
                <a:ea typeface="DejaVu Sans"/>
                <a:cs typeface="DejaVu Sans"/>
              </a:defRPr>
            </a:pPr>
            <a:r>
              <a:rPr sz="1350" b="0">
                <a:solidFill>
                  <a:srgbClr val="50687C"/>
                </a:solidFill>
                <a:latin typeface="DejaVu Sans"/>
                <a:ea typeface="DejaVu Sans"/>
                <a:cs typeface="DejaVu Sans"/>
              </a:rPr>
              <a:t>16</a:t>
            </a:r>
          </a:p>
        </p:txBody>
      </p:sp>
      <p:sp>
        <p:nvSpPr>
          <p:cNvPr id="3" name="text-2">
            <a:extLst xmlns:a="http://schemas.openxmlformats.org/drawingml/2006/main">
              <a:ext uri="{FF2B5EF4-FFF2-40B4-BE49-F238E27FC236}">
                <a16:creationId xmlns:a16="http://schemas.microsoft.com/office/drawing/2014/main" id="{4E6CF05F-11B9-4D9A-B5C8-6ACF0C336070}"/>
              </a:ext>
            </a:extLst>
          </p:cNvPr>
          <p:cNvSpPr>
            <a:spLocks xmlns:a="http://schemas.openxmlformats.org/drawingml/2006/main" noGrp="1"/>
          </p:cNvSpPr>
          <p:nvPr/>
        </p:nvSpPr>
        <p:spPr>
          <a:xfrm xmlns:a="http://schemas.openxmlformats.org/drawingml/2006/main">
            <a:off x="685800" y="1771650"/>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A second invocation leaves compliant state unchanged.</a:t>
            </a:r>
          </a:p>
        </p:txBody>
      </p:sp>
      <p:sp>
        <p:nvSpPr>
          <p:cNvPr id="4" name="text-3">
            <a:extLst xmlns:a="http://schemas.openxmlformats.org/drawingml/2006/main">
              <a:ext uri="{FF2B5EF4-FFF2-40B4-BE49-F238E27FC236}">
                <a16:creationId xmlns:a16="http://schemas.microsoft.com/office/drawing/2014/main" id="{C4C7C99C-E595-4F79-B62F-672EB0AFEC1F}"/>
              </a:ext>
            </a:extLst>
          </p:cNvPr>
          <p:cNvSpPr>
            <a:spLocks xmlns:a="http://schemas.openxmlformats.org/drawingml/2006/main" noGrp="1"/>
          </p:cNvSpPr>
          <p:nvPr/>
        </p:nvSpPr>
        <p:spPr>
          <a:xfrm xmlns:a="http://schemas.openxmlformats.org/drawingml/2006/main">
            <a:off x="685800" y="265747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A repair cannot modify another student’s resource.</a:t>
            </a:r>
          </a:p>
        </p:txBody>
      </p:sp>
      <p:sp>
        <p:nvSpPr>
          <p:cNvPr id="5" name="text-4">
            <a:extLst xmlns:a="http://schemas.openxmlformats.org/drawingml/2006/main">
              <a:ext uri="{FF2B5EF4-FFF2-40B4-BE49-F238E27FC236}">
                <a16:creationId xmlns:a16="http://schemas.microsoft.com/office/drawing/2014/main" id="{621C1FE8-C1E4-4FBB-B82A-474D19E1CE73}"/>
              </a:ext>
            </a:extLst>
          </p:cNvPr>
          <p:cNvSpPr>
            <a:spLocks xmlns:a="http://schemas.openxmlformats.org/drawingml/2006/main" noGrp="1"/>
          </p:cNvSpPr>
          <p:nvPr/>
        </p:nvSpPr>
        <p:spPr>
          <a:xfrm xmlns:a="http://schemas.openxmlformats.org/drawingml/2006/main">
            <a:off x="685800" y="3543300"/>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Production needs approved baselines and exceptions.</a:t>
            </a:r>
          </a:p>
        </p:txBody>
      </p:sp>
      <p:sp>
        <p:nvSpPr>
          <p:cNvPr id="6" name="text-5">
            <a:extLst xmlns:a="http://schemas.openxmlformats.org/drawingml/2006/main">
              <a:ext uri="{FF2B5EF4-FFF2-40B4-BE49-F238E27FC236}">
                <a16:creationId xmlns:a16="http://schemas.microsoft.com/office/drawing/2014/main" id="{07D422E1-544D-40D7-B3B5-56FB0157A0CB}"/>
              </a:ext>
            </a:extLst>
          </p:cNvPr>
          <p:cNvSpPr>
            <a:spLocks xmlns:a="http://schemas.openxmlformats.org/drawingml/2006/main" noGrp="1"/>
          </p:cNvSpPr>
          <p:nvPr/>
        </p:nvSpPr>
        <p:spPr>
          <a:xfrm xmlns:a="http://schemas.openxmlformats.org/drawingml/2006/main">
            <a:off x="685800" y="4429125"/>
            <a:ext cx="1047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43C50"/>
                </a:solidFill>
                <a:latin typeface="DejaVu Sans"/>
                <a:ea typeface="DejaVu Sans"/>
                <a:cs typeface="DejaVu Sans"/>
              </a:defRPr>
            </a:pPr>
            <a:r>
              <a:rPr sz="2250" b="0">
                <a:solidFill>
                  <a:srgbClr val="243C50"/>
                </a:solidFill>
                <a:latin typeface="DejaVu Sans"/>
                <a:ea typeface="DejaVu Sans"/>
                <a:cs typeface="DejaVu Sans"/>
              </a:rPr>
              <a:t>Cleanup begins by disabling the workshop rules.</a:t>
            </a:r>
          </a:p>
        </p:txBody>
      </p:sp>
      <p:sp>
        <p:nvSpPr>
          <p:cNvPr id="7" name="text-6">
            <a:extLst xmlns:a="http://schemas.openxmlformats.org/drawingml/2006/main">
              <a:ext uri="{FF2B5EF4-FFF2-40B4-BE49-F238E27FC236}">
                <a16:creationId xmlns:a16="http://schemas.microsoft.com/office/drawing/2014/main" id="{0045D448-C418-40C9-B274-A1CB2A919262}"/>
              </a:ext>
            </a:extLst>
          </p:cNvPr>
          <p:cNvSpPr>
            <a:spLocks xmlns:a="http://schemas.openxmlformats.org/drawingml/2006/main" noGrp="1"/>
          </p:cNvSpPr>
          <p:nvPr/>
        </p:nvSpPr>
        <p:spPr>
          <a:xfrm xmlns:a="http://schemas.openxmlformats.org/drawingml/2006/main">
            <a:off x="685800" y="56388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1">
                <a:solidFill>
                  <a:srgbClr val="B65B0D"/>
                </a:solidFill>
                <a:latin typeface="DejaVu Sans"/>
                <a:ea typeface="DejaVu Sans"/>
                <a:cs typeface="DejaVu Sans"/>
              </a:defRPr>
            </a:pPr>
            <a:r>
              <a:rPr sz="1875" b="1">
                <a:solidFill>
                  <a:srgbClr val="B65B0D"/>
                </a:solidFill>
                <a:latin typeface="DejaVu Sans"/>
                <a:ea typeface="DejaVu Sans"/>
                <a:cs typeface="DejaVu Sans"/>
              </a:rPr>
              <a:t>Discussion: which repairs should require human approval?</a:t>
            </a:r>
          </a:p>
        </p:txBody>
      </p:sp>
    </p:spTree>
    <p:extLst>
      <p:ext uri="{BB962C8B-B14F-4D97-AF65-F5344CB8AC3E}">
        <p14:creationId xmlns:p14="http://schemas.microsoft.com/office/powerpoint/2010/main" val="2661695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2026-10-02T19:17:31.0300000Z</dcterms:created>
  <dcterms:modified xsi:type="dcterms:W3CDTF">2026-10-02T19:17:31.0300000Z</dcterms:modified>
</coreProperties>
</file>